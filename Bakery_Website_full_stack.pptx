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060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A26769"/>
          </a:solidFill>
          <a:ln/>
        </p:spPr>
      </p:sp>
      <p:sp>
        <p:nvSpPr>
          <p:cNvPr id="3" name="Text 1"/>
          <p:cNvSpPr/>
          <p:nvPr/>
        </p:nvSpPr>
        <p:spPr>
          <a:xfrm>
            <a:off x="548640" y="2103120"/>
            <a:ext cx="4572000" cy="914400"/>
          </a:xfrm>
          <a:prstGeom prst="rect">
            <a:avLst/>
          </a:prstGeom>
          <a:noFill/>
          <a:ln/>
        </p:spPr>
        <p:txBody>
          <a:bodyPr wrap="square" rtlCol="0" anchor="ctr"/>
          <a:lstStyle/>
          <a:p>
            <a:pPr marL="0" indent="0">
              <a:buNone/>
            </a:pPr>
            <a:r>
              <a:rPr lang="en-US" sz="6000" b="1" dirty="0">
                <a:solidFill>
                  <a:srgbClr val="FCF6F5"/>
                </a:solidFill>
                <a:latin typeface="Georgia" pitchFamily="34" charset="0"/>
                <a:ea typeface="Georgia" pitchFamily="34" charset="-122"/>
                <a:cs typeface="Georgia" pitchFamily="34" charset="-120"/>
              </a:rPr>
              <a:t>BAKERY</a:t>
            </a:r>
            <a:endParaRPr lang="en-US" sz="6000" dirty="0"/>
          </a:p>
        </p:txBody>
      </p:sp>
      <p:sp>
        <p:nvSpPr>
          <p:cNvPr id="4" name="Text 2"/>
          <p:cNvSpPr/>
          <p:nvPr/>
        </p:nvSpPr>
        <p:spPr>
          <a:xfrm>
            <a:off x="548640" y="2834640"/>
            <a:ext cx="4572000" cy="914400"/>
          </a:xfrm>
          <a:prstGeom prst="rect">
            <a:avLst/>
          </a:prstGeom>
          <a:noFill/>
          <a:ln/>
        </p:spPr>
        <p:txBody>
          <a:bodyPr wrap="square" rtlCol="0" anchor="ctr"/>
          <a:lstStyle/>
          <a:p>
            <a:pPr marL="0" indent="0">
              <a:buNone/>
            </a:pPr>
            <a:r>
              <a:rPr lang="en-US" sz="6000" b="1" dirty="0">
                <a:solidFill>
                  <a:srgbClr val="FCF6F5"/>
                </a:solidFill>
                <a:latin typeface="Georgia" pitchFamily="34" charset="0"/>
                <a:ea typeface="Georgia" pitchFamily="34" charset="-122"/>
                <a:cs typeface="Georgia" pitchFamily="34" charset="-120"/>
              </a:rPr>
              <a:t>WEBSITE</a:t>
            </a:r>
            <a:endParaRPr lang="en-US" sz="6000" dirty="0"/>
          </a:p>
        </p:txBody>
      </p:sp>
      <p:pic>
        <p:nvPicPr>
          <p:cNvPr id="5" name="Image 0" descr="preencoded.png"/>
          <p:cNvPicPr>
            <a:picLocks noChangeAspect="1"/>
          </p:cNvPicPr>
          <p:nvPr/>
        </p:nvPicPr>
        <p:blipFill>
          <a:blip r:embed="rId3"/>
          <a:srcRect/>
          <a:stretch/>
        </p:blipFill>
        <p:spPr>
          <a:xfrm>
            <a:off x="457200" y="4846320"/>
            <a:ext cx="1097280" cy="1097280"/>
          </a:xfrm>
          <a:prstGeom prst="ellipse">
            <a:avLst/>
          </a:prstGeom>
        </p:spPr>
      </p:pic>
      <p:pic>
        <p:nvPicPr>
          <p:cNvPr id="6" name="Image 1" descr="preencoded.png"/>
          <p:cNvPicPr>
            <a:picLocks noChangeAspect="1"/>
          </p:cNvPicPr>
          <p:nvPr/>
        </p:nvPicPr>
        <p:blipFill>
          <a:blip r:embed="rId4"/>
          <a:srcRect/>
          <a:stretch/>
        </p:blipFill>
        <p:spPr>
          <a:xfrm>
            <a:off x="1645920" y="5212080"/>
            <a:ext cx="914400" cy="914400"/>
          </a:xfrm>
          <a:prstGeom prst="ellipse">
            <a:avLst/>
          </a:prstGeom>
        </p:spPr>
      </p:pic>
      <p:pic>
        <p:nvPicPr>
          <p:cNvPr id="7" name="Image 2" descr="preencoded.png"/>
          <p:cNvPicPr>
            <a:picLocks noChangeAspect="1"/>
          </p:cNvPicPr>
          <p:nvPr/>
        </p:nvPicPr>
        <p:blipFill>
          <a:blip r:embed="rId5"/>
          <a:srcRect/>
          <a:stretch/>
        </p:blipFill>
        <p:spPr>
          <a:xfrm>
            <a:off x="2651760" y="4937760"/>
            <a:ext cx="1051560" cy="1051560"/>
          </a:xfrm>
          <a:prstGeom prst="ellipse">
            <a:avLst/>
          </a:prstGeom>
        </p:spPr>
      </p:pic>
      <p:sp>
        <p:nvSpPr>
          <p:cNvPr id="8" name="Text 3"/>
          <p:cNvSpPr/>
          <p:nvPr/>
        </p:nvSpPr>
        <p:spPr>
          <a:xfrm>
            <a:off x="4785360" y="2377440"/>
            <a:ext cx="6858000" cy="457200"/>
          </a:xfrm>
          <a:prstGeom prst="rect">
            <a:avLst/>
          </a:prstGeom>
          <a:noFill/>
          <a:ln/>
        </p:spPr>
        <p:txBody>
          <a:bodyPr wrap="square" rtlCol="0" anchor="ctr"/>
          <a:lstStyle/>
          <a:p>
            <a:pPr marL="0" indent="0">
              <a:buNone/>
            </a:pPr>
            <a:r>
              <a:rPr lang="en-US" sz="2800" dirty="0">
                <a:solidFill>
                  <a:srgbClr val="ECE2D0"/>
                </a:solidFill>
                <a:latin typeface="Calibri" pitchFamily="34" charset="0"/>
                <a:ea typeface="Calibri" pitchFamily="34" charset="-122"/>
                <a:cs typeface="Calibri" pitchFamily="34" charset="-120"/>
              </a:rPr>
              <a:t>Full Stack Web Application  •  Mini Project</a:t>
            </a:r>
            <a:endParaRPr lang="en-US" sz="2800" dirty="0"/>
          </a:p>
        </p:txBody>
      </p:sp>
      <p:sp>
        <p:nvSpPr>
          <p:cNvPr id="9" name="Shape 4"/>
          <p:cNvSpPr/>
          <p:nvPr/>
        </p:nvSpPr>
        <p:spPr>
          <a:xfrm>
            <a:off x="4754880" y="3017520"/>
            <a:ext cx="548640" cy="45720"/>
          </a:xfrm>
          <a:prstGeom prst="rect">
            <a:avLst/>
          </a:prstGeom>
          <a:solidFill>
            <a:srgbClr val="ECE2D0"/>
          </a:solidFill>
          <a:ln/>
        </p:spPr>
      </p:sp>
      <p:sp>
        <p:nvSpPr>
          <p:cNvPr id="10" name="Text 5"/>
          <p:cNvSpPr/>
          <p:nvPr/>
        </p:nvSpPr>
        <p:spPr>
          <a:xfrm>
            <a:off x="4754880" y="3291840"/>
            <a:ext cx="6400800" cy="365760"/>
          </a:xfrm>
          <a:prstGeom prst="rect">
            <a:avLst/>
          </a:prstGeom>
          <a:noFill/>
          <a:ln/>
        </p:spPr>
        <p:txBody>
          <a:bodyPr wrap="square" rtlCol="0" anchor="ctr"/>
          <a:lstStyle/>
          <a:p>
            <a:pPr marL="0" indent="0">
              <a:buNone/>
            </a:pPr>
            <a:r>
              <a:rPr lang="en-US" sz="2800" b="1" dirty="0">
                <a:solidFill>
                  <a:srgbClr val="ECE2D0"/>
                </a:solidFill>
                <a:latin typeface="Calibri" pitchFamily="34" charset="0"/>
                <a:ea typeface="Calibri" pitchFamily="34" charset="-122"/>
                <a:cs typeface="Calibri" pitchFamily="34" charset="-120"/>
              </a:rPr>
              <a:t>Developed By</a:t>
            </a:r>
            <a:endParaRPr lang="en-US" sz="2800" dirty="0"/>
          </a:p>
        </p:txBody>
      </p:sp>
      <p:sp>
        <p:nvSpPr>
          <p:cNvPr id="11" name="Text 6"/>
          <p:cNvSpPr/>
          <p:nvPr/>
        </p:nvSpPr>
        <p:spPr>
          <a:xfrm>
            <a:off x="4754880" y="3657600"/>
            <a:ext cx="6858000" cy="457200"/>
          </a:xfrm>
          <a:prstGeom prst="rect">
            <a:avLst/>
          </a:prstGeom>
          <a:noFill/>
          <a:ln/>
        </p:spPr>
        <p:txBody>
          <a:bodyPr wrap="square" rtlCol="0" anchor="ctr"/>
          <a:lstStyle/>
          <a:p>
            <a:pPr marL="0" indent="0">
              <a:buNone/>
            </a:pPr>
            <a:r>
              <a:rPr lang="en-US" sz="3200" dirty="0">
                <a:solidFill>
                  <a:srgbClr val="FCF6F5"/>
                </a:solidFill>
                <a:latin typeface="Calibri" pitchFamily="34" charset="0"/>
                <a:ea typeface="Calibri" pitchFamily="34" charset="-122"/>
                <a:cs typeface="Calibri" pitchFamily="34" charset="-120"/>
              </a:rPr>
              <a:t>Abi. T   •   Adithya. C   •   Roshni. A</a:t>
            </a:r>
            <a:endParaRPr lang="en-US" sz="3200" dirty="0"/>
          </a:p>
        </p:txBody>
      </p:sp>
      <p:sp>
        <p:nvSpPr>
          <p:cNvPr id="12" name="Text 7"/>
          <p:cNvSpPr/>
          <p:nvPr/>
        </p:nvSpPr>
        <p:spPr>
          <a:xfrm>
            <a:off x="4754880" y="5029200"/>
            <a:ext cx="6858000" cy="365760"/>
          </a:xfrm>
          <a:prstGeom prst="rect">
            <a:avLst/>
          </a:prstGeom>
          <a:noFill/>
          <a:ln/>
        </p:spPr>
        <p:txBody>
          <a:bodyPr wrap="square" rtlCol="0" anchor="ctr"/>
          <a:lstStyle/>
          <a:p>
            <a:pPr marL="0" indent="0">
              <a:buNone/>
            </a:pPr>
            <a:r>
              <a:rPr lang="en-US" sz="2000" dirty="0">
                <a:solidFill>
                  <a:srgbClr val="ECE2D0"/>
                </a:solidFill>
                <a:latin typeface="Calibri" pitchFamily="34" charset="0"/>
                <a:ea typeface="Calibri" pitchFamily="34" charset="-122"/>
                <a:cs typeface="Calibri" pitchFamily="34" charset="-120"/>
              </a:rPr>
              <a:t>Department of Computer Science and Business Systems</a:t>
            </a:r>
            <a:endParaRPr lang="en-US" sz="2000" dirty="0"/>
          </a:p>
        </p:txBody>
      </p:sp>
      <p:sp>
        <p:nvSpPr>
          <p:cNvPr id="13" name="Text 8"/>
          <p:cNvSpPr/>
          <p:nvPr/>
        </p:nvSpPr>
        <p:spPr>
          <a:xfrm>
            <a:off x="4754880" y="5394960"/>
            <a:ext cx="6858000" cy="365760"/>
          </a:xfrm>
          <a:prstGeom prst="rect">
            <a:avLst/>
          </a:prstGeom>
          <a:noFill/>
          <a:ln/>
        </p:spPr>
        <p:txBody>
          <a:bodyPr wrap="square" rtlCol="0" anchor="ctr"/>
          <a:lstStyle/>
          <a:p>
            <a:pPr marL="0" indent="0">
              <a:buNone/>
            </a:pPr>
            <a:r>
              <a:rPr lang="en-US" sz="2000" dirty="0">
                <a:solidFill>
                  <a:srgbClr val="ECE2D0"/>
                </a:solidFill>
                <a:latin typeface="Calibri" pitchFamily="34" charset="0"/>
                <a:ea typeface="Calibri" pitchFamily="34" charset="-122"/>
                <a:cs typeface="Calibri" pitchFamily="34" charset="-120"/>
              </a:rPr>
              <a:t>Academic Year: 2026–2027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01  •  OVERVIEW</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Introduction</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What is the Bakery Website?</a:t>
            </a:r>
            <a:endParaRPr lang="en-US" sz="1600" dirty="0"/>
          </a:p>
        </p:txBody>
      </p:sp>
      <p:sp>
        <p:nvSpPr>
          <p:cNvPr id="5" name="Shape 3"/>
          <p:cNvSpPr/>
          <p:nvPr/>
        </p:nvSpPr>
        <p:spPr>
          <a:xfrm>
            <a:off x="457200" y="1828800"/>
            <a:ext cx="548640" cy="54864"/>
          </a:xfrm>
          <a:prstGeom prst="rect">
            <a:avLst/>
          </a:prstGeom>
          <a:solidFill>
            <a:srgbClr val="6D2E46"/>
          </a:solidFill>
          <a:ln/>
        </p:spPr>
      </p:sp>
      <p:pic>
        <p:nvPicPr>
          <p:cNvPr id="6" name="Image 0" descr="preencoded.png"/>
          <p:cNvPicPr>
            <a:picLocks noChangeAspect="1"/>
          </p:cNvPicPr>
          <p:nvPr/>
        </p:nvPicPr>
        <p:blipFill>
          <a:blip r:embed="rId3"/>
          <a:srcRect/>
          <a:stretch/>
        </p:blipFill>
        <p:spPr>
          <a:xfrm>
            <a:off x="457200" y="2103120"/>
            <a:ext cx="1280160" cy="1280160"/>
          </a:xfrm>
          <a:prstGeom prst="ellipse">
            <a:avLst/>
          </a:prstGeom>
        </p:spPr>
      </p:pic>
      <p:sp>
        <p:nvSpPr>
          <p:cNvPr id="7" name="Text 4"/>
          <p:cNvSpPr/>
          <p:nvPr/>
        </p:nvSpPr>
        <p:spPr>
          <a:xfrm>
            <a:off x="1920240" y="2103120"/>
            <a:ext cx="5394960" cy="2011680"/>
          </a:xfrm>
          <a:prstGeom prst="rect">
            <a:avLst/>
          </a:prstGeom>
          <a:noFill/>
          <a:ln/>
        </p:spPr>
        <p:txBody>
          <a:bodyPr wrap="square" rtlCol="0" anchor="ctr"/>
          <a:lstStyle/>
          <a:p>
            <a:pPr marL="0" indent="0">
              <a:spcAft>
                <a:spcPts val="600"/>
              </a:spcAft>
              <a:buNone/>
            </a:pPr>
            <a:r>
              <a:rPr lang="en-US" sz="2000" dirty="0">
                <a:solidFill>
                  <a:srgbClr val="2B1B1F"/>
                </a:solidFill>
                <a:latin typeface="Calibri" pitchFamily="34" charset="0"/>
                <a:ea typeface="Calibri" pitchFamily="34" charset="-122"/>
                <a:cs typeface="Calibri" pitchFamily="34" charset="-120"/>
              </a:rPr>
              <a:t>The Bakery Website is a full-stack web application developed to simplify online bakery shopping. It offers customers an easy way to browse products, place orders, and interact with the bakery, while helping owners manage products and orders efficiently.</a:t>
            </a:r>
            <a:endParaRPr lang="en-US" sz="2000" dirty="0"/>
          </a:p>
        </p:txBody>
      </p:sp>
      <p:pic>
        <p:nvPicPr>
          <p:cNvPr id="8" name="Image 1" descr="preencoded.png"/>
          <p:cNvPicPr>
            <a:picLocks noChangeAspect="1"/>
          </p:cNvPicPr>
          <p:nvPr/>
        </p:nvPicPr>
        <p:blipFill>
          <a:blip r:embed="rId4"/>
          <a:srcRect/>
          <a:stretch/>
        </p:blipFill>
        <p:spPr>
          <a:xfrm>
            <a:off x="457200" y="4572000"/>
            <a:ext cx="914400" cy="914400"/>
          </a:xfrm>
          <a:prstGeom prst="ellipse">
            <a:avLst/>
          </a:prstGeom>
        </p:spPr>
      </p:pic>
      <p:pic>
        <p:nvPicPr>
          <p:cNvPr id="9" name="Image 2" descr="preencoded.png"/>
          <p:cNvPicPr>
            <a:picLocks noChangeAspect="1"/>
          </p:cNvPicPr>
          <p:nvPr/>
        </p:nvPicPr>
        <p:blipFill>
          <a:blip r:embed="rId5"/>
          <a:srcRect/>
          <a:stretch/>
        </p:blipFill>
        <p:spPr>
          <a:xfrm>
            <a:off x="1554480" y="4572000"/>
            <a:ext cx="914400" cy="914400"/>
          </a:xfrm>
          <a:prstGeom prst="ellipse">
            <a:avLst/>
          </a:prstGeom>
        </p:spPr>
      </p:pic>
      <p:pic>
        <p:nvPicPr>
          <p:cNvPr id="10" name="Image 3" descr="preencoded.png"/>
          <p:cNvPicPr>
            <a:picLocks noChangeAspect="1"/>
          </p:cNvPicPr>
          <p:nvPr/>
        </p:nvPicPr>
        <p:blipFill>
          <a:blip r:embed="rId6"/>
          <a:srcRect/>
          <a:stretch/>
        </p:blipFill>
        <p:spPr>
          <a:xfrm>
            <a:off x="2651760" y="4572000"/>
            <a:ext cx="914400" cy="914400"/>
          </a:xfrm>
          <a:prstGeom prst="ellipse">
            <a:avLst/>
          </a:prstGeom>
        </p:spPr>
      </p:pic>
      <p:pic>
        <p:nvPicPr>
          <p:cNvPr id="11" name="Image 4" descr="preencoded.png"/>
          <p:cNvPicPr>
            <a:picLocks noChangeAspect="1"/>
          </p:cNvPicPr>
          <p:nvPr/>
        </p:nvPicPr>
        <p:blipFill>
          <a:blip r:embed="rId7"/>
          <a:srcRect/>
          <a:stretch/>
        </p:blipFill>
        <p:spPr>
          <a:xfrm>
            <a:off x="3749040" y="4572000"/>
            <a:ext cx="914400" cy="914400"/>
          </a:xfrm>
          <a:prstGeom prst="ellipse">
            <a:avLst/>
          </a:prstGeom>
        </p:spPr>
      </p:pic>
      <p:pic>
        <p:nvPicPr>
          <p:cNvPr id="12" name="Image 5" descr="preencoded.png"/>
          <p:cNvPicPr>
            <a:picLocks noChangeAspect="1"/>
          </p:cNvPicPr>
          <p:nvPr/>
        </p:nvPicPr>
        <p:blipFill>
          <a:blip r:embed="rId8"/>
          <a:srcRect/>
          <a:stretch/>
        </p:blipFill>
        <p:spPr>
          <a:xfrm>
            <a:off x="4846320" y="4572000"/>
            <a:ext cx="914400" cy="914400"/>
          </a:xfrm>
          <a:prstGeom prst="ellipse">
            <a:avLst/>
          </a:prstGeom>
        </p:spPr>
      </p:pic>
      <p:sp>
        <p:nvSpPr>
          <p:cNvPr id="13" name="Shape 5"/>
          <p:cNvSpPr/>
          <p:nvPr/>
        </p:nvSpPr>
        <p:spPr>
          <a:xfrm>
            <a:off x="7772400" y="2103120"/>
            <a:ext cx="3931920" cy="4023360"/>
          </a:xfrm>
          <a:prstGeom prst="roundRect">
            <a:avLst>
              <a:gd name="adj" fmla="val 3488"/>
            </a:avLst>
          </a:prstGeom>
          <a:solidFill>
            <a:srgbClr val="ECE2D0"/>
          </a:solidFill>
          <a:ln w="12700">
            <a:solidFill>
              <a:srgbClr val="A26769"/>
            </a:solidFill>
            <a:prstDash val="solid"/>
          </a:ln>
        </p:spPr>
        <p:txBody>
          <a:bodyPr/>
          <a:lstStyle/>
          <a:p>
            <a:endParaRPr lang="en-US" b="1" dirty="0">
              <a:solidFill>
                <a:srgbClr val="6D2E46"/>
              </a:solidFill>
              <a:latin typeface="Calibri" pitchFamily="34" charset="0"/>
              <a:ea typeface="Calibri" pitchFamily="34" charset="-122"/>
              <a:cs typeface="Calibri" pitchFamily="34" charset="-120"/>
            </a:endParaRPr>
          </a:p>
          <a:p>
            <a:endParaRPr lang="en-US" b="1" dirty="0">
              <a:solidFill>
                <a:srgbClr val="6D2E46"/>
              </a:solidFill>
              <a:latin typeface="Calibri" pitchFamily="34" charset="0"/>
              <a:ea typeface="Calibri" pitchFamily="34" charset="-122"/>
              <a:cs typeface="Calibri" pitchFamily="34" charset="-120"/>
            </a:endParaRPr>
          </a:p>
          <a:p>
            <a:r>
              <a:rPr lang="en-US" b="1" dirty="0">
                <a:solidFill>
                  <a:srgbClr val="6D2E46"/>
                </a:solidFill>
                <a:latin typeface="Calibri" pitchFamily="34" charset="0"/>
                <a:ea typeface="Calibri" pitchFamily="34" charset="-122"/>
                <a:cs typeface="Calibri" pitchFamily="34" charset="-120"/>
              </a:rPr>
              <a:t>The system enables customers to:</a:t>
            </a:r>
            <a:endParaRPr lang="en-US" dirty="0"/>
          </a:p>
          <a:p>
            <a:endParaRPr lang="en-IN" dirty="0"/>
          </a:p>
        </p:txBody>
      </p:sp>
      <p:sp>
        <p:nvSpPr>
          <p:cNvPr id="14" name="Text 6"/>
          <p:cNvSpPr/>
          <p:nvPr/>
        </p:nvSpPr>
        <p:spPr>
          <a:xfrm>
            <a:off x="8046720" y="2286000"/>
            <a:ext cx="3474720" cy="365760"/>
          </a:xfrm>
          <a:prstGeom prst="rect">
            <a:avLst/>
          </a:prstGeom>
          <a:noFill/>
          <a:ln/>
        </p:spPr>
        <p:txBody>
          <a:bodyPr wrap="square" rtlCol="0" anchor="ctr"/>
          <a:lstStyle/>
          <a:p>
            <a:pPr marL="0" indent="0">
              <a:buNone/>
            </a:pPr>
            <a:endParaRPr lang="en-US" sz="2000" dirty="0"/>
          </a:p>
        </p:txBody>
      </p:sp>
      <p:sp>
        <p:nvSpPr>
          <p:cNvPr id="15" name="Text 7"/>
          <p:cNvSpPr/>
          <p:nvPr/>
        </p:nvSpPr>
        <p:spPr>
          <a:xfrm>
            <a:off x="8138160" y="2743200"/>
            <a:ext cx="3383280" cy="3200400"/>
          </a:xfrm>
          <a:prstGeom prst="rect">
            <a:avLst/>
          </a:prstGeom>
          <a:noFill/>
          <a:ln/>
        </p:spPr>
        <p:txBody>
          <a:bodyPr wrap="square" rtlCol="0" anchor="ctr"/>
          <a:lstStyle/>
          <a:p>
            <a:pPr marL="342900" indent="-342900">
              <a:spcAft>
                <a:spcPts val="800"/>
              </a:spcAft>
              <a:buSzPct val="100000"/>
              <a:buChar char="●"/>
            </a:pPr>
            <a:r>
              <a:rPr lang="en-US" sz="2000" dirty="0">
                <a:solidFill>
                  <a:srgbClr val="2B1B1F"/>
                </a:solidFill>
                <a:latin typeface="Calibri" pitchFamily="34" charset="0"/>
                <a:ea typeface="Calibri" pitchFamily="34" charset="-122"/>
                <a:cs typeface="Calibri" pitchFamily="34" charset="-120"/>
              </a:rPr>
              <a:t>View bakery products</a:t>
            </a:r>
            <a:endParaRPr lang="en-US" sz="2000" dirty="0"/>
          </a:p>
          <a:p>
            <a:pPr marL="342900" indent="-342900">
              <a:spcAft>
                <a:spcPts val="800"/>
              </a:spcAft>
              <a:buSzPct val="100000"/>
              <a:buChar char="●"/>
            </a:pPr>
            <a:r>
              <a:rPr lang="en-US" sz="2000" dirty="0">
                <a:solidFill>
                  <a:srgbClr val="2B1B1F"/>
                </a:solidFill>
                <a:latin typeface="Calibri" pitchFamily="34" charset="0"/>
                <a:ea typeface="Calibri" pitchFamily="34" charset="-122"/>
                <a:cs typeface="Calibri" pitchFamily="34" charset="-120"/>
              </a:rPr>
              <a:t>Register and log in securely</a:t>
            </a:r>
            <a:endParaRPr lang="en-US" sz="2000" dirty="0"/>
          </a:p>
          <a:p>
            <a:pPr marL="342900" indent="-342900">
              <a:spcAft>
                <a:spcPts val="800"/>
              </a:spcAft>
              <a:buSzPct val="100000"/>
              <a:buChar char="●"/>
            </a:pPr>
            <a:r>
              <a:rPr lang="en-US" sz="2000" dirty="0">
                <a:solidFill>
                  <a:srgbClr val="2B1B1F"/>
                </a:solidFill>
                <a:latin typeface="Calibri" pitchFamily="34" charset="0"/>
                <a:ea typeface="Calibri" pitchFamily="34" charset="-122"/>
                <a:cs typeface="Calibri" pitchFamily="34" charset="-120"/>
              </a:rPr>
              <a:t>Add products to the cart</a:t>
            </a:r>
            <a:endParaRPr lang="en-US" sz="2000" dirty="0"/>
          </a:p>
          <a:p>
            <a:pPr marL="342900" indent="-342900">
              <a:spcAft>
                <a:spcPts val="800"/>
              </a:spcAft>
              <a:buSzPct val="100000"/>
              <a:buChar char="●"/>
            </a:pPr>
            <a:r>
              <a:rPr lang="en-US" sz="2000" dirty="0">
                <a:solidFill>
                  <a:srgbClr val="2B1B1F"/>
                </a:solidFill>
                <a:latin typeface="Calibri" pitchFamily="34" charset="0"/>
                <a:ea typeface="Calibri" pitchFamily="34" charset="-122"/>
                <a:cs typeface="Calibri" pitchFamily="34" charset="-120"/>
              </a:rPr>
              <a:t>Place online orders</a:t>
            </a:r>
            <a:endParaRPr lang="en-US" sz="2000" dirty="0"/>
          </a:p>
          <a:p>
            <a:pPr marL="342900" indent="-342900">
              <a:spcAft>
                <a:spcPts val="800"/>
              </a:spcAft>
              <a:buSzPct val="100000"/>
              <a:buChar char="●"/>
            </a:pPr>
            <a:r>
              <a:rPr lang="en-US" sz="2000" dirty="0">
                <a:solidFill>
                  <a:srgbClr val="2B1B1F"/>
                </a:solidFill>
                <a:latin typeface="Calibri" pitchFamily="34" charset="0"/>
                <a:ea typeface="Calibri" pitchFamily="34" charset="-122"/>
                <a:cs typeface="Calibri" pitchFamily="34" charset="-120"/>
              </a:rPr>
              <a:t>Contact the bakery</a:t>
            </a:r>
            <a:endParaRPr lang="en-US" sz="2000" dirty="0"/>
          </a:p>
        </p:txBody>
      </p:sp>
      <p:sp>
        <p:nvSpPr>
          <p:cNvPr id="16" name="Text 8"/>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17" name="Text 9"/>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2 / 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02  •  GOALS</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Objectives</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Goals of the project</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457200" y="2194560"/>
            <a:ext cx="3703320" cy="1783080"/>
          </a:xfrm>
          <a:prstGeom prst="roundRect">
            <a:avLst>
              <a:gd name="adj" fmla="val 5128"/>
            </a:avLst>
          </a:prstGeom>
          <a:solidFill>
            <a:srgbClr val="FFFFFF"/>
          </a:solidFill>
          <a:ln w="12700">
            <a:solidFill>
              <a:srgbClr val="ECE2D0"/>
            </a:solidFill>
            <a:prstDash val="solid"/>
          </a:ln>
        </p:spPr>
        <p:txBody>
          <a:bodyPr/>
          <a:lstStyle/>
          <a:p>
            <a:endParaRPr lang="en-IN" dirty="0"/>
          </a:p>
        </p:txBody>
      </p:sp>
      <p:sp>
        <p:nvSpPr>
          <p:cNvPr id="7" name="Shape 5"/>
          <p:cNvSpPr/>
          <p:nvPr/>
        </p:nvSpPr>
        <p:spPr>
          <a:xfrm>
            <a:off x="731520" y="2468880"/>
            <a:ext cx="640080" cy="640080"/>
          </a:xfrm>
          <a:prstGeom prst="ellipse">
            <a:avLst/>
          </a:prstGeom>
          <a:solidFill>
            <a:srgbClr val="6D2E46"/>
          </a:solidFill>
          <a:ln/>
        </p:spPr>
      </p:sp>
      <p:sp>
        <p:nvSpPr>
          <p:cNvPr id="8" name="Text 6"/>
          <p:cNvSpPr/>
          <p:nvPr/>
        </p:nvSpPr>
        <p:spPr>
          <a:xfrm>
            <a:off x="731520" y="246888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731520" y="315468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Develop a responsive bakery website</a:t>
            </a:r>
            <a:endParaRPr lang="en-US" sz="2000" dirty="0"/>
          </a:p>
        </p:txBody>
      </p:sp>
      <p:sp>
        <p:nvSpPr>
          <p:cNvPr id="10" name="Shape 8"/>
          <p:cNvSpPr/>
          <p:nvPr/>
        </p:nvSpPr>
        <p:spPr>
          <a:xfrm>
            <a:off x="4343400" y="2194560"/>
            <a:ext cx="3703320" cy="1783080"/>
          </a:xfrm>
          <a:prstGeom prst="roundRect">
            <a:avLst>
              <a:gd name="adj" fmla="val 5128"/>
            </a:avLst>
          </a:prstGeom>
          <a:solidFill>
            <a:srgbClr val="FFFFFF"/>
          </a:solidFill>
          <a:ln w="12700">
            <a:solidFill>
              <a:srgbClr val="ECE2D0"/>
            </a:solidFill>
            <a:prstDash val="solid"/>
          </a:ln>
        </p:spPr>
      </p:sp>
      <p:sp>
        <p:nvSpPr>
          <p:cNvPr id="11" name="Shape 9"/>
          <p:cNvSpPr/>
          <p:nvPr/>
        </p:nvSpPr>
        <p:spPr>
          <a:xfrm>
            <a:off x="4617720" y="2468880"/>
            <a:ext cx="640080" cy="640080"/>
          </a:xfrm>
          <a:prstGeom prst="ellipse">
            <a:avLst/>
          </a:prstGeom>
          <a:solidFill>
            <a:srgbClr val="6D2E46"/>
          </a:solidFill>
          <a:ln/>
        </p:spPr>
      </p:sp>
      <p:sp>
        <p:nvSpPr>
          <p:cNvPr id="12" name="Text 10"/>
          <p:cNvSpPr/>
          <p:nvPr/>
        </p:nvSpPr>
        <p:spPr>
          <a:xfrm>
            <a:off x="4617720" y="246888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4617720" y="315468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Provide secure user registration and login</a:t>
            </a:r>
            <a:endParaRPr lang="en-US" sz="2000" dirty="0"/>
          </a:p>
        </p:txBody>
      </p:sp>
      <p:sp>
        <p:nvSpPr>
          <p:cNvPr id="14" name="Shape 12"/>
          <p:cNvSpPr/>
          <p:nvPr/>
        </p:nvSpPr>
        <p:spPr>
          <a:xfrm>
            <a:off x="8229600" y="2194560"/>
            <a:ext cx="3703320" cy="1783080"/>
          </a:xfrm>
          <a:prstGeom prst="roundRect">
            <a:avLst>
              <a:gd name="adj" fmla="val 5128"/>
            </a:avLst>
          </a:prstGeom>
          <a:solidFill>
            <a:srgbClr val="FFFFFF"/>
          </a:solidFill>
          <a:ln w="12700">
            <a:solidFill>
              <a:srgbClr val="ECE2D0"/>
            </a:solidFill>
            <a:prstDash val="solid"/>
          </a:ln>
        </p:spPr>
      </p:sp>
      <p:sp>
        <p:nvSpPr>
          <p:cNvPr id="15" name="Shape 13"/>
          <p:cNvSpPr/>
          <p:nvPr/>
        </p:nvSpPr>
        <p:spPr>
          <a:xfrm>
            <a:off x="8503920" y="2468880"/>
            <a:ext cx="640080" cy="640080"/>
          </a:xfrm>
          <a:prstGeom prst="ellipse">
            <a:avLst/>
          </a:prstGeom>
          <a:solidFill>
            <a:srgbClr val="6D2E46"/>
          </a:solidFill>
          <a:ln/>
        </p:spPr>
      </p:sp>
      <p:sp>
        <p:nvSpPr>
          <p:cNvPr id="16" name="Text 14"/>
          <p:cNvSpPr/>
          <p:nvPr/>
        </p:nvSpPr>
        <p:spPr>
          <a:xfrm>
            <a:off x="8503920" y="246888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8503920" y="315468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Display bakery products with images and prices</a:t>
            </a:r>
            <a:endParaRPr lang="en-US" sz="2000" dirty="0"/>
          </a:p>
        </p:txBody>
      </p:sp>
      <p:sp>
        <p:nvSpPr>
          <p:cNvPr id="18" name="Shape 16"/>
          <p:cNvSpPr/>
          <p:nvPr/>
        </p:nvSpPr>
        <p:spPr>
          <a:xfrm>
            <a:off x="457200" y="4160520"/>
            <a:ext cx="3703320" cy="1783080"/>
          </a:xfrm>
          <a:prstGeom prst="roundRect">
            <a:avLst>
              <a:gd name="adj" fmla="val 5128"/>
            </a:avLst>
          </a:prstGeom>
          <a:solidFill>
            <a:srgbClr val="FFFFFF"/>
          </a:solidFill>
          <a:ln w="12700">
            <a:solidFill>
              <a:srgbClr val="ECE2D0"/>
            </a:solidFill>
            <a:prstDash val="solid"/>
          </a:ln>
        </p:spPr>
      </p:sp>
      <p:sp>
        <p:nvSpPr>
          <p:cNvPr id="19" name="Shape 17"/>
          <p:cNvSpPr/>
          <p:nvPr/>
        </p:nvSpPr>
        <p:spPr>
          <a:xfrm>
            <a:off x="731520" y="4434840"/>
            <a:ext cx="640080" cy="640080"/>
          </a:xfrm>
          <a:prstGeom prst="ellipse">
            <a:avLst/>
          </a:prstGeom>
          <a:solidFill>
            <a:srgbClr val="6D2E46"/>
          </a:solidFill>
          <a:ln/>
        </p:spPr>
      </p:sp>
      <p:sp>
        <p:nvSpPr>
          <p:cNvPr id="20" name="Text 18"/>
          <p:cNvSpPr/>
          <p:nvPr/>
        </p:nvSpPr>
        <p:spPr>
          <a:xfrm>
            <a:off x="731520" y="443484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4</a:t>
            </a:r>
            <a:endParaRPr lang="en-US" sz="2200" dirty="0"/>
          </a:p>
        </p:txBody>
      </p:sp>
      <p:sp>
        <p:nvSpPr>
          <p:cNvPr id="21" name="Text 19"/>
          <p:cNvSpPr/>
          <p:nvPr/>
        </p:nvSpPr>
        <p:spPr>
          <a:xfrm>
            <a:off x="731520" y="512064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Enable online ordering through a shopping cart</a:t>
            </a:r>
            <a:endParaRPr lang="en-US" sz="2000" dirty="0"/>
          </a:p>
        </p:txBody>
      </p:sp>
      <p:sp>
        <p:nvSpPr>
          <p:cNvPr id="22" name="Shape 20"/>
          <p:cNvSpPr/>
          <p:nvPr/>
        </p:nvSpPr>
        <p:spPr>
          <a:xfrm>
            <a:off x="4343400" y="4160520"/>
            <a:ext cx="3703320" cy="1783080"/>
          </a:xfrm>
          <a:prstGeom prst="roundRect">
            <a:avLst>
              <a:gd name="adj" fmla="val 5128"/>
            </a:avLst>
          </a:prstGeom>
          <a:solidFill>
            <a:srgbClr val="FFFFFF"/>
          </a:solidFill>
          <a:ln w="12700">
            <a:solidFill>
              <a:srgbClr val="ECE2D0"/>
            </a:solidFill>
            <a:prstDash val="solid"/>
          </a:ln>
        </p:spPr>
      </p:sp>
      <p:sp>
        <p:nvSpPr>
          <p:cNvPr id="23" name="Shape 21"/>
          <p:cNvSpPr/>
          <p:nvPr/>
        </p:nvSpPr>
        <p:spPr>
          <a:xfrm>
            <a:off x="4617720" y="4434840"/>
            <a:ext cx="640080" cy="640080"/>
          </a:xfrm>
          <a:prstGeom prst="ellipse">
            <a:avLst/>
          </a:prstGeom>
          <a:solidFill>
            <a:srgbClr val="6D2E46"/>
          </a:solidFill>
          <a:ln/>
        </p:spPr>
      </p:sp>
      <p:sp>
        <p:nvSpPr>
          <p:cNvPr id="24" name="Text 22"/>
          <p:cNvSpPr/>
          <p:nvPr/>
        </p:nvSpPr>
        <p:spPr>
          <a:xfrm>
            <a:off x="4617720" y="443484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5</a:t>
            </a:r>
            <a:endParaRPr lang="en-US" sz="2200" dirty="0"/>
          </a:p>
        </p:txBody>
      </p:sp>
      <p:sp>
        <p:nvSpPr>
          <p:cNvPr id="25" name="Text 23"/>
          <p:cNvSpPr/>
          <p:nvPr/>
        </p:nvSpPr>
        <p:spPr>
          <a:xfrm>
            <a:off x="4617720" y="512064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Store customer and order details in a database</a:t>
            </a:r>
            <a:endParaRPr lang="en-US" sz="2000" dirty="0"/>
          </a:p>
        </p:txBody>
      </p:sp>
      <p:sp>
        <p:nvSpPr>
          <p:cNvPr id="26" name="Shape 24"/>
          <p:cNvSpPr/>
          <p:nvPr/>
        </p:nvSpPr>
        <p:spPr>
          <a:xfrm>
            <a:off x="8229600" y="4160520"/>
            <a:ext cx="3703320" cy="1783080"/>
          </a:xfrm>
          <a:prstGeom prst="roundRect">
            <a:avLst>
              <a:gd name="adj" fmla="val 5128"/>
            </a:avLst>
          </a:prstGeom>
          <a:solidFill>
            <a:srgbClr val="FFFFFF"/>
          </a:solidFill>
          <a:ln w="12700">
            <a:solidFill>
              <a:srgbClr val="ECE2D0"/>
            </a:solidFill>
            <a:prstDash val="solid"/>
          </a:ln>
        </p:spPr>
      </p:sp>
      <p:sp>
        <p:nvSpPr>
          <p:cNvPr id="27" name="Shape 25"/>
          <p:cNvSpPr/>
          <p:nvPr/>
        </p:nvSpPr>
        <p:spPr>
          <a:xfrm>
            <a:off x="8503920" y="4434840"/>
            <a:ext cx="640080" cy="640080"/>
          </a:xfrm>
          <a:prstGeom prst="ellipse">
            <a:avLst/>
          </a:prstGeom>
          <a:solidFill>
            <a:srgbClr val="6D2E46"/>
          </a:solidFill>
          <a:ln/>
        </p:spPr>
        <p:txBody>
          <a:bodyPr/>
          <a:lstStyle/>
          <a:p>
            <a:endParaRPr lang="en-IN" dirty="0"/>
          </a:p>
        </p:txBody>
      </p:sp>
      <p:sp>
        <p:nvSpPr>
          <p:cNvPr id="28" name="Text 26"/>
          <p:cNvSpPr/>
          <p:nvPr/>
        </p:nvSpPr>
        <p:spPr>
          <a:xfrm>
            <a:off x="8503920" y="4434840"/>
            <a:ext cx="640080" cy="640080"/>
          </a:xfrm>
          <a:prstGeom prst="rect">
            <a:avLst/>
          </a:prstGeom>
          <a:noFill/>
          <a:ln/>
        </p:spPr>
        <p:txBody>
          <a:bodyPr wrap="square" rtlCol="0" anchor="ctr"/>
          <a:lstStyle/>
          <a:p>
            <a:pPr marL="0" indent="0" algn="ctr">
              <a:buNone/>
            </a:pPr>
            <a:r>
              <a:rPr lang="en-US" sz="2200" b="1" dirty="0">
                <a:solidFill>
                  <a:srgbClr val="FCF6F5"/>
                </a:solidFill>
                <a:latin typeface="Georgia" pitchFamily="34" charset="0"/>
                <a:ea typeface="Georgia" pitchFamily="34" charset="-122"/>
                <a:cs typeface="Georgia" pitchFamily="34" charset="-120"/>
              </a:rPr>
              <a:t>6</a:t>
            </a:r>
            <a:endParaRPr lang="en-US" sz="2200" dirty="0"/>
          </a:p>
        </p:txBody>
      </p:sp>
      <p:sp>
        <p:nvSpPr>
          <p:cNvPr id="29" name="Text 27"/>
          <p:cNvSpPr/>
          <p:nvPr/>
        </p:nvSpPr>
        <p:spPr>
          <a:xfrm>
            <a:off x="8503920" y="5120640"/>
            <a:ext cx="3246120" cy="777240"/>
          </a:xfrm>
          <a:prstGeom prst="rect">
            <a:avLst/>
          </a:prstGeom>
          <a:noFill/>
          <a:ln/>
        </p:spPr>
        <p:txBody>
          <a:bodyPr wrap="square" rtlCol="0" anchor="ctr"/>
          <a:lstStyle/>
          <a:p>
            <a:pPr marL="0" indent="0">
              <a:buNone/>
            </a:pPr>
            <a:r>
              <a:rPr lang="en-US" sz="2000" dirty="0">
                <a:solidFill>
                  <a:srgbClr val="2B1B1F"/>
                </a:solidFill>
                <a:latin typeface="Calibri" pitchFamily="34" charset="0"/>
                <a:ea typeface="Calibri" pitchFamily="34" charset="-122"/>
                <a:cs typeface="Calibri" pitchFamily="34" charset="-120"/>
              </a:rPr>
              <a:t>Improve customer experience through digital ordering</a:t>
            </a:r>
            <a:endParaRPr lang="en-US" sz="2000" dirty="0"/>
          </a:p>
        </p:txBody>
      </p:sp>
      <p:sp>
        <p:nvSpPr>
          <p:cNvPr id="30" name="Text 28"/>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31" name="Text 29"/>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3 / 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03  •  STACK</a:t>
            </a:r>
            <a:endParaRPr lang="en-US" sz="1100" dirty="0"/>
          </a:p>
        </p:txBody>
      </p:sp>
      <p:sp>
        <p:nvSpPr>
          <p:cNvPr id="3" name="Text 1"/>
          <p:cNvSpPr/>
          <p:nvPr/>
        </p:nvSpPr>
        <p:spPr>
          <a:xfrm>
            <a:off x="391885"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Technologies Used</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Tech stack of the project</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457200" y="2194560"/>
            <a:ext cx="2743200" cy="3931920"/>
          </a:xfrm>
          <a:prstGeom prst="roundRect">
            <a:avLst>
              <a:gd name="adj" fmla="val 5000"/>
            </a:avLst>
          </a:prstGeom>
          <a:solidFill>
            <a:srgbClr val="FFFFFF"/>
          </a:solidFill>
          <a:ln w="12700">
            <a:solidFill>
              <a:srgbClr val="ECE2D0"/>
            </a:solidFill>
            <a:prstDash val="solid"/>
          </a:ln>
        </p:spPr>
      </p:sp>
      <p:sp>
        <p:nvSpPr>
          <p:cNvPr id="7" name="Shape 5"/>
          <p:cNvSpPr/>
          <p:nvPr/>
        </p:nvSpPr>
        <p:spPr>
          <a:xfrm>
            <a:off x="457200" y="2194560"/>
            <a:ext cx="2743200" cy="640080"/>
          </a:xfrm>
          <a:prstGeom prst="rect">
            <a:avLst/>
          </a:prstGeom>
          <a:solidFill>
            <a:srgbClr val="6D2E46"/>
          </a:solidFill>
          <a:ln w="12700">
            <a:solidFill>
              <a:srgbClr val="6D2E46"/>
            </a:solidFill>
            <a:prstDash val="solid"/>
          </a:ln>
        </p:spPr>
      </p:sp>
      <p:sp>
        <p:nvSpPr>
          <p:cNvPr id="8" name="Text 6"/>
          <p:cNvSpPr/>
          <p:nvPr/>
        </p:nvSpPr>
        <p:spPr>
          <a:xfrm>
            <a:off x="457200" y="2194560"/>
            <a:ext cx="2743200" cy="640080"/>
          </a:xfrm>
          <a:prstGeom prst="rect">
            <a:avLst/>
          </a:prstGeom>
          <a:noFill/>
          <a:ln/>
        </p:spPr>
        <p:txBody>
          <a:bodyPr wrap="square" rtlCol="0" anchor="ctr"/>
          <a:lstStyle/>
          <a:p>
            <a:pPr marL="0" indent="0" algn="ctr">
              <a:buNone/>
            </a:pPr>
            <a:r>
              <a:rPr lang="en-US" sz="2000" b="1" dirty="0">
                <a:solidFill>
                  <a:srgbClr val="FCF6F5"/>
                </a:solidFill>
                <a:latin typeface="Georgia" pitchFamily="34" charset="0"/>
                <a:ea typeface="Georgia" pitchFamily="34" charset="-122"/>
                <a:cs typeface="Georgia" pitchFamily="34" charset="-120"/>
              </a:rPr>
              <a:t>Frontend</a:t>
            </a:r>
            <a:endParaRPr lang="en-US" sz="2000" dirty="0"/>
          </a:p>
        </p:txBody>
      </p:sp>
      <p:sp>
        <p:nvSpPr>
          <p:cNvPr id="9" name="Text 7"/>
          <p:cNvSpPr/>
          <p:nvPr/>
        </p:nvSpPr>
        <p:spPr>
          <a:xfrm>
            <a:off x="731520" y="3017520"/>
            <a:ext cx="2468880" cy="2926080"/>
          </a:xfrm>
          <a:prstGeom prst="rect">
            <a:avLst/>
          </a:prstGeom>
          <a:noFill/>
          <a:ln/>
        </p:spPr>
        <p:txBody>
          <a:bodyPr wrap="square" rtlCol="0" anchor="ctr"/>
          <a:lstStyle/>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HTML5</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CSS3</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JavaScript</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Bootstrap</a:t>
            </a:r>
            <a:endParaRPr lang="en-US" sz="2400" dirty="0"/>
          </a:p>
        </p:txBody>
      </p:sp>
      <p:sp>
        <p:nvSpPr>
          <p:cNvPr id="10" name="Shape 8"/>
          <p:cNvSpPr/>
          <p:nvPr/>
        </p:nvSpPr>
        <p:spPr>
          <a:xfrm>
            <a:off x="3383280" y="2194560"/>
            <a:ext cx="2743200" cy="3931920"/>
          </a:xfrm>
          <a:prstGeom prst="roundRect">
            <a:avLst>
              <a:gd name="adj" fmla="val 5000"/>
            </a:avLst>
          </a:prstGeom>
          <a:solidFill>
            <a:srgbClr val="FFFFFF"/>
          </a:solidFill>
          <a:ln w="12700">
            <a:solidFill>
              <a:srgbClr val="ECE2D0"/>
            </a:solidFill>
            <a:prstDash val="solid"/>
          </a:ln>
        </p:spPr>
      </p:sp>
      <p:sp>
        <p:nvSpPr>
          <p:cNvPr id="11" name="Shape 9"/>
          <p:cNvSpPr/>
          <p:nvPr/>
        </p:nvSpPr>
        <p:spPr>
          <a:xfrm>
            <a:off x="3383280" y="2194560"/>
            <a:ext cx="2743200" cy="640080"/>
          </a:xfrm>
          <a:prstGeom prst="rect">
            <a:avLst/>
          </a:prstGeom>
          <a:solidFill>
            <a:srgbClr val="6D2E46"/>
          </a:solidFill>
          <a:ln w="12700">
            <a:solidFill>
              <a:srgbClr val="6D2E46"/>
            </a:solidFill>
            <a:prstDash val="solid"/>
          </a:ln>
        </p:spPr>
      </p:sp>
      <p:sp>
        <p:nvSpPr>
          <p:cNvPr id="12" name="Text 10"/>
          <p:cNvSpPr/>
          <p:nvPr/>
        </p:nvSpPr>
        <p:spPr>
          <a:xfrm>
            <a:off x="3383280" y="2194560"/>
            <a:ext cx="2743200" cy="640080"/>
          </a:xfrm>
          <a:prstGeom prst="rect">
            <a:avLst/>
          </a:prstGeom>
          <a:noFill/>
          <a:ln/>
        </p:spPr>
        <p:txBody>
          <a:bodyPr wrap="square" rtlCol="0" anchor="ctr"/>
          <a:lstStyle/>
          <a:p>
            <a:pPr marL="0" indent="0" algn="ctr">
              <a:buNone/>
            </a:pPr>
            <a:r>
              <a:rPr lang="en-US" sz="2000" b="1" dirty="0">
                <a:solidFill>
                  <a:srgbClr val="FCF6F5"/>
                </a:solidFill>
                <a:latin typeface="Georgia" pitchFamily="34" charset="0"/>
                <a:ea typeface="Georgia" pitchFamily="34" charset="-122"/>
                <a:cs typeface="Georgia" pitchFamily="34" charset="-120"/>
              </a:rPr>
              <a:t>Backend</a:t>
            </a:r>
            <a:endParaRPr lang="en-US" sz="2000" dirty="0"/>
          </a:p>
        </p:txBody>
      </p:sp>
      <p:sp>
        <p:nvSpPr>
          <p:cNvPr id="13" name="Text 11"/>
          <p:cNvSpPr/>
          <p:nvPr/>
        </p:nvSpPr>
        <p:spPr>
          <a:xfrm>
            <a:off x="3657600" y="3017520"/>
            <a:ext cx="2468880" cy="2926080"/>
          </a:xfrm>
          <a:prstGeom prst="rect">
            <a:avLst/>
          </a:prstGeom>
          <a:noFill/>
          <a:ln/>
        </p:spPr>
        <p:txBody>
          <a:bodyPr wrap="square" rtlCol="0" anchor="ctr"/>
          <a:lstStyle/>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Node.js</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Express.js</a:t>
            </a:r>
            <a:endParaRPr lang="en-US" sz="2400" dirty="0"/>
          </a:p>
        </p:txBody>
      </p:sp>
      <p:sp>
        <p:nvSpPr>
          <p:cNvPr id="14" name="Shape 12"/>
          <p:cNvSpPr/>
          <p:nvPr/>
        </p:nvSpPr>
        <p:spPr>
          <a:xfrm>
            <a:off x="6309360" y="2194560"/>
            <a:ext cx="2743200" cy="3931920"/>
          </a:xfrm>
          <a:prstGeom prst="roundRect">
            <a:avLst>
              <a:gd name="adj" fmla="val 5000"/>
            </a:avLst>
          </a:prstGeom>
          <a:solidFill>
            <a:srgbClr val="FFFFFF"/>
          </a:solidFill>
          <a:ln w="12700">
            <a:solidFill>
              <a:srgbClr val="ECE2D0"/>
            </a:solidFill>
            <a:prstDash val="solid"/>
          </a:ln>
        </p:spPr>
      </p:sp>
      <p:sp>
        <p:nvSpPr>
          <p:cNvPr id="15" name="Shape 13"/>
          <p:cNvSpPr/>
          <p:nvPr/>
        </p:nvSpPr>
        <p:spPr>
          <a:xfrm>
            <a:off x="6309360" y="2194560"/>
            <a:ext cx="2743200" cy="640080"/>
          </a:xfrm>
          <a:prstGeom prst="rect">
            <a:avLst/>
          </a:prstGeom>
          <a:solidFill>
            <a:srgbClr val="6D2E46"/>
          </a:solidFill>
          <a:ln w="12700">
            <a:solidFill>
              <a:srgbClr val="6D2E46"/>
            </a:solidFill>
            <a:prstDash val="solid"/>
          </a:ln>
        </p:spPr>
      </p:sp>
      <p:sp>
        <p:nvSpPr>
          <p:cNvPr id="16" name="Text 14"/>
          <p:cNvSpPr/>
          <p:nvPr/>
        </p:nvSpPr>
        <p:spPr>
          <a:xfrm>
            <a:off x="6309360" y="2194560"/>
            <a:ext cx="2743200" cy="640080"/>
          </a:xfrm>
          <a:prstGeom prst="rect">
            <a:avLst/>
          </a:prstGeom>
          <a:noFill/>
          <a:ln/>
        </p:spPr>
        <p:txBody>
          <a:bodyPr wrap="square" rtlCol="0" anchor="ctr"/>
          <a:lstStyle/>
          <a:p>
            <a:pPr marL="0" indent="0" algn="ctr">
              <a:buNone/>
            </a:pPr>
            <a:r>
              <a:rPr lang="en-US" sz="2000" b="1" dirty="0">
                <a:solidFill>
                  <a:srgbClr val="FCF6F5"/>
                </a:solidFill>
                <a:latin typeface="Georgia" pitchFamily="34" charset="0"/>
                <a:ea typeface="Georgia" pitchFamily="34" charset="-122"/>
                <a:cs typeface="Georgia" pitchFamily="34" charset="-120"/>
              </a:rPr>
              <a:t>Database</a:t>
            </a:r>
            <a:endParaRPr lang="en-US" sz="2000" dirty="0"/>
          </a:p>
        </p:txBody>
      </p:sp>
      <p:sp>
        <p:nvSpPr>
          <p:cNvPr id="17" name="Text 15"/>
          <p:cNvSpPr/>
          <p:nvPr/>
        </p:nvSpPr>
        <p:spPr>
          <a:xfrm>
            <a:off x="6583680" y="3017520"/>
            <a:ext cx="2468880" cy="2926080"/>
          </a:xfrm>
          <a:prstGeom prst="rect">
            <a:avLst/>
          </a:prstGeom>
          <a:noFill/>
          <a:ln/>
        </p:spPr>
        <p:txBody>
          <a:bodyPr wrap="square" rtlCol="0" anchor="ctr"/>
          <a:lstStyle/>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MongoDB</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MongoDB Compass</a:t>
            </a:r>
            <a:endParaRPr lang="en-US" sz="2400" dirty="0"/>
          </a:p>
        </p:txBody>
      </p:sp>
      <p:sp>
        <p:nvSpPr>
          <p:cNvPr id="18" name="Shape 16"/>
          <p:cNvSpPr/>
          <p:nvPr/>
        </p:nvSpPr>
        <p:spPr>
          <a:xfrm>
            <a:off x="9235440" y="2194560"/>
            <a:ext cx="2743200" cy="3931920"/>
          </a:xfrm>
          <a:prstGeom prst="roundRect">
            <a:avLst>
              <a:gd name="adj" fmla="val 5000"/>
            </a:avLst>
          </a:prstGeom>
          <a:solidFill>
            <a:srgbClr val="FFFFFF"/>
          </a:solidFill>
          <a:ln w="12700">
            <a:solidFill>
              <a:srgbClr val="ECE2D0"/>
            </a:solidFill>
            <a:prstDash val="solid"/>
          </a:ln>
        </p:spPr>
      </p:sp>
      <p:sp>
        <p:nvSpPr>
          <p:cNvPr id="19" name="Shape 17"/>
          <p:cNvSpPr/>
          <p:nvPr/>
        </p:nvSpPr>
        <p:spPr>
          <a:xfrm>
            <a:off x="9235440" y="2194560"/>
            <a:ext cx="2743200" cy="640080"/>
          </a:xfrm>
          <a:prstGeom prst="rect">
            <a:avLst/>
          </a:prstGeom>
          <a:solidFill>
            <a:srgbClr val="6D2E46"/>
          </a:solidFill>
          <a:ln w="12700">
            <a:solidFill>
              <a:srgbClr val="6D2E46"/>
            </a:solidFill>
            <a:prstDash val="solid"/>
          </a:ln>
        </p:spPr>
      </p:sp>
      <p:sp>
        <p:nvSpPr>
          <p:cNvPr id="20" name="Text 18"/>
          <p:cNvSpPr/>
          <p:nvPr/>
        </p:nvSpPr>
        <p:spPr>
          <a:xfrm>
            <a:off x="9235440" y="2194560"/>
            <a:ext cx="2743200" cy="640080"/>
          </a:xfrm>
          <a:prstGeom prst="rect">
            <a:avLst/>
          </a:prstGeom>
          <a:noFill/>
          <a:ln/>
        </p:spPr>
        <p:txBody>
          <a:bodyPr wrap="square" rtlCol="0" anchor="ctr"/>
          <a:lstStyle/>
          <a:p>
            <a:pPr marL="0" indent="0" algn="ctr">
              <a:buNone/>
            </a:pPr>
            <a:r>
              <a:rPr lang="en-US" sz="2000" b="1" dirty="0">
                <a:solidFill>
                  <a:srgbClr val="FCF6F5"/>
                </a:solidFill>
                <a:latin typeface="Georgia" pitchFamily="34" charset="0"/>
                <a:ea typeface="Georgia" pitchFamily="34" charset="-122"/>
                <a:cs typeface="Georgia" pitchFamily="34" charset="-120"/>
              </a:rPr>
              <a:t>Dev Tools</a:t>
            </a:r>
            <a:endParaRPr lang="en-US" sz="2000" dirty="0"/>
          </a:p>
        </p:txBody>
      </p:sp>
      <p:sp>
        <p:nvSpPr>
          <p:cNvPr id="21" name="Text 19"/>
          <p:cNvSpPr/>
          <p:nvPr/>
        </p:nvSpPr>
        <p:spPr>
          <a:xfrm>
            <a:off x="9509760" y="3017520"/>
            <a:ext cx="2468880" cy="2926080"/>
          </a:xfrm>
          <a:prstGeom prst="rect">
            <a:avLst/>
          </a:prstGeom>
          <a:noFill/>
          <a:ln/>
        </p:spPr>
        <p:txBody>
          <a:bodyPr wrap="square" rtlCol="0" anchor="ctr"/>
          <a:lstStyle/>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VS Code</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Git &amp; GitHub</a:t>
            </a:r>
            <a:endParaRPr lang="en-US" sz="2400" dirty="0"/>
          </a:p>
          <a:p>
            <a:pPr marL="342900" indent="-342900">
              <a:spcAft>
                <a:spcPts val="800"/>
              </a:spcAft>
              <a:buSzPct val="100000"/>
              <a:buChar char="●"/>
            </a:pPr>
            <a:r>
              <a:rPr lang="en-US" sz="2400" dirty="0">
                <a:solidFill>
                  <a:srgbClr val="2B1B1F"/>
                </a:solidFill>
                <a:latin typeface="Calibri" pitchFamily="34" charset="0"/>
                <a:ea typeface="Calibri" pitchFamily="34" charset="-122"/>
                <a:cs typeface="Calibri" pitchFamily="34" charset="-120"/>
              </a:rPr>
              <a:t>Chrome</a:t>
            </a:r>
            <a:endParaRPr lang="en-US" sz="2400" dirty="0"/>
          </a:p>
        </p:txBody>
      </p:sp>
      <p:sp>
        <p:nvSpPr>
          <p:cNvPr id="22" name="Text 20"/>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23" name="Text 21"/>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4 / 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04  •  ARCHITECTURE</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System Architecture</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How the system is structured</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640080" y="2194560"/>
            <a:ext cx="6858000" cy="685800"/>
          </a:xfrm>
          <a:prstGeom prst="roundRect">
            <a:avLst>
              <a:gd name="adj" fmla="val 13333"/>
            </a:avLst>
          </a:prstGeom>
          <a:solidFill>
            <a:srgbClr val="A26769"/>
          </a:solidFill>
          <a:ln w="12700">
            <a:solidFill>
              <a:srgbClr val="A26769"/>
            </a:solidFill>
            <a:prstDash val="solid"/>
          </a:ln>
        </p:spPr>
      </p:sp>
      <p:sp>
        <p:nvSpPr>
          <p:cNvPr id="7" name="Text 5"/>
          <p:cNvSpPr/>
          <p:nvPr/>
        </p:nvSpPr>
        <p:spPr>
          <a:xfrm>
            <a:off x="640080" y="2194560"/>
            <a:ext cx="6858000" cy="685800"/>
          </a:xfrm>
          <a:prstGeom prst="rect">
            <a:avLst/>
          </a:prstGeom>
          <a:noFill/>
          <a:ln/>
        </p:spPr>
        <p:txBody>
          <a:bodyPr wrap="square" rtlCol="0" anchor="ctr"/>
          <a:lstStyle/>
          <a:p>
            <a:pPr marL="0" indent="0" algn="ctr">
              <a:buNone/>
            </a:pPr>
            <a:r>
              <a:rPr lang="en-US" sz="2800" b="1" dirty="0">
                <a:solidFill>
                  <a:srgbClr val="FCF6F5"/>
                </a:solidFill>
                <a:latin typeface="Calibri" pitchFamily="34" charset="0"/>
                <a:ea typeface="Calibri" pitchFamily="34" charset="-122"/>
                <a:cs typeface="Calibri" pitchFamily="34" charset="-120"/>
              </a:rPr>
              <a:t>Customer</a:t>
            </a:r>
            <a:endParaRPr lang="en-US" sz="2800" dirty="0"/>
          </a:p>
        </p:txBody>
      </p:sp>
      <p:sp>
        <p:nvSpPr>
          <p:cNvPr id="8" name="Text 6"/>
          <p:cNvSpPr/>
          <p:nvPr/>
        </p:nvSpPr>
        <p:spPr>
          <a:xfrm>
            <a:off x="640080" y="2907792"/>
            <a:ext cx="6858000" cy="228600"/>
          </a:xfrm>
          <a:prstGeom prst="rect">
            <a:avLst/>
          </a:prstGeom>
          <a:noFill/>
          <a:ln/>
        </p:spPr>
        <p:txBody>
          <a:bodyPr wrap="square" rtlCol="0" anchor="ctr"/>
          <a:lstStyle/>
          <a:p>
            <a:pPr marL="0" indent="0" algn="ctr">
              <a:buNone/>
            </a:pPr>
            <a:r>
              <a:rPr lang="en-US" sz="1400" dirty="0">
                <a:solidFill>
                  <a:srgbClr val="A26769"/>
                </a:solidFill>
              </a:rPr>
              <a:t>▼</a:t>
            </a:r>
            <a:endParaRPr lang="en-US" sz="1400" dirty="0"/>
          </a:p>
        </p:txBody>
      </p:sp>
      <p:sp>
        <p:nvSpPr>
          <p:cNvPr id="9" name="Shape 7"/>
          <p:cNvSpPr/>
          <p:nvPr/>
        </p:nvSpPr>
        <p:spPr>
          <a:xfrm>
            <a:off x="640080" y="3154680"/>
            <a:ext cx="6858000" cy="685800"/>
          </a:xfrm>
          <a:prstGeom prst="roundRect">
            <a:avLst>
              <a:gd name="adj" fmla="val 13333"/>
            </a:avLst>
          </a:prstGeom>
          <a:solidFill>
            <a:srgbClr val="6D2E46"/>
          </a:solidFill>
          <a:ln w="12700">
            <a:solidFill>
              <a:srgbClr val="6D2E46"/>
            </a:solidFill>
            <a:prstDash val="solid"/>
          </a:ln>
        </p:spPr>
        <p:txBody>
          <a:bodyPr/>
          <a:lstStyle/>
          <a:p>
            <a:endParaRPr lang="en-IN" dirty="0"/>
          </a:p>
        </p:txBody>
      </p:sp>
      <p:sp>
        <p:nvSpPr>
          <p:cNvPr id="10" name="Text 8"/>
          <p:cNvSpPr/>
          <p:nvPr/>
        </p:nvSpPr>
        <p:spPr>
          <a:xfrm>
            <a:off x="640080" y="3154680"/>
            <a:ext cx="6858000" cy="685800"/>
          </a:xfrm>
          <a:prstGeom prst="rect">
            <a:avLst/>
          </a:prstGeom>
          <a:noFill/>
          <a:ln/>
        </p:spPr>
        <p:txBody>
          <a:bodyPr wrap="square" rtlCol="0" anchor="ctr"/>
          <a:lstStyle/>
          <a:p>
            <a:pPr marL="0" indent="0" algn="ctr">
              <a:buNone/>
            </a:pPr>
            <a:r>
              <a:rPr lang="en-US" sz="2800" b="1" dirty="0">
                <a:solidFill>
                  <a:srgbClr val="FCF6F5"/>
                </a:solidFill>
                <a:latin typeface="Calibri" pitchFamily="34" charset="0"/>
                <a:ea typeface="Calibri" pitchFamily="34" charset="-122"/>
                <a:cs typeface="Calibri" pitchFamily="34" charset="-120"/>
              </a:rPr>
              <a:t>Frontend  (HTML • CSS • JavaScript)</a:t>
            </a:r>
            <a:endParaRPr lang="en-US" sz="2800" dirty="0"/>
          </a:p>
        </p:txBody>
      </p:sp>
      <p:sp>
        <p:nvSpPr>
          <p:cNvPr id="11" name="Text 9"/>
          <p:cNvSpPr/>
          <p:nvPr/>
        </p:nvSpPr>
        <p:spPr>
          <a:xfrm>
            <a:off x="640080" y="3867912"/>
            <a:ext cx="6858000" cy="228600"/>
          </a:xfrm>
          <a:prstGeom prst="rect">
            <a:avLst/>
          </a:prstGeom>
          <a:noFill/>
          <a:ln/>
        </p:spPr>
        <p:txBody>
          <a:bodyPr wrap="square" rtlCol="0" anchor="ctr"/>
          <a:lstStyle/>
          <a:p>
            <a:pPr marL="0" indent="0" algn="ctr">
              <a:buNone/>
            </a:pPr>
            <a:r>
              <a:rPr lang="en-US" sz="1400" dirty="0">
                <a:solidFill>
                  <a:srgbClr val="A26769"/>
                </a:solidFill>
              </a:rPr>
              <a:t>▼</a:t>
            </a:r>
            <a:endParaRPr lang="en-US" sz="1400" dirty="0"/>
          </a:p>
        </p:txBody>
      </p:sp>
      <p:sp>
        <p:nvSpPr>
          <p:cNvPr id="12" name="Shape 10"/>
          <p:cNvSpPr/>
          <p:nvPr/>
        </p:nvSpPr>
        <p:spPr>
          <a:xfrm>
            <a:off x="640080" y="4114800"/>
            <a:ext cx="6858000" cy="685800"/>
          </a:xfrm>
          <a:prstGeom prst="roundRect">
            <a:avLst>
              <a:gd name="adj" fmla="val 13333"/>
            </a:avLst>
          </a:prstGeom>
          <a:solidFill>
            <a:srgbClr val="6D2E46"/>
          </a:solidFill>
          <a:ln w="12700">
            <a:solidFill>
              <a:srgbClr val="6D2E46"/>
            </a:solidFill>
            <a:prstDash val="solid"/>
          </a:ln>
        </p:spPr>
      </p:sp>
      <p:sp>
        <p:nvSpPr>
          <p:cNvPr id="13" name="Text 11"/>
          <p:cNvSpPr/>
          <p:nvPr/>
        </p:nvSpPr>
        <p:spPr>
          <a:xfrm>
            <a:off x="640080" y="4114800"/>
            <a:ext cx="6858000" cy="685800"/>
          </a:xfrm>
          <a:prstGeom prst="rect">
            <a:avLst/>
          </a:prstGeom>
          <a:noFill/>
          <a:ln/>
        </p:spPr>
        <p:txBody>
          <a:bodyPr wrap="square" rtlCol="0" anchor="ctr"/>
          <a:lstStyle/>
          <a:p>
            <a:pPr marL="0" indent="0" algn="ctr">
              <a:buNone/>
            </a:pPr>
            <a:r>
              <a:rPr lang="en-US" sz="2800" b="1" dirty="0">
                <a:solidFill>
                  <a:srgbClr val="FCF6F5"/>
                </a:solidFill>
                <a:latin typeface="Calibri" pitchFamily="34" charset="0"/>
                <a:ea typeface="Calibri" pitchFamily="34" charset="-122"/>
                <a:cs typeface="Calibri" pitchFamily="34" charset="-120"/>
              </a:rPr>
              <a:t>Node.js + Express.js  (Server &amp; API)</a:t>
            </a:r>
            <a:endParaRPr lang="en-US" sz="2800" dirty="0"/>
          </a:p>
        </p:txBody>
      </p:sp>
      <p:sp>
        <p:nvSpPr>
          <p:cNvPr id="14" name="Text 12"/>
          <p:cNvSpPr/>
          <p:nvPr/>
        </p:nvSpPr>
        <p:spPr>
          <a:xfrm>
            <a:off x="640080" y="4828032"/>
            <a:ext cx="6858000" cy="228600"/>
          </a:xfrm>
          <a:prstGeom prst="rect">
            <a:avLst/>
          </a:prstGeom>
          <a:noFill/>
          <a:ln/>
        </p:spPr>
        <p:txBody>
          <a:bodyPr wrap="square" rtlCol="0" anchor="ctr"/>
          <a:lstStyle/>
          <a:p>
            <a:pPr marL="0" indent="0" algn="ctr">
              <a:buNone/>
            </a:pPr>
            <a:r>
              <a:rPr lang="en-US" sz="1400" dirty="0">
                <a:solidFill>
                  <a:srgbClr val="A26769"/>
                </a:solidFill>
              </a:rPr>
              <a:t>▼</a:t>
            </a:r>
            <a:endParaRPr lang="en-US" sz="1400" dirty="0"/>
          </a:p>
        </p:txBody>
      </p:sp>
      <p:sp>
        <p:nvSpPr>
          <p:cNvPr id="15" name="Shape 13"/>
          <p:cNvSpPr/>
          <p:nvPr/>
        </p:nvSpPr>
        <p:spPr>
          <a:xfrm>
            <a:off x="640080" y="5074920"/>
            <a:ext cx="6858000" cy="685800"/>
          </a:xfrm>
          <a:prstGeom prst="roundRect">
            <a:avLst>
              <a:gd name="adj" fmla="val 13333"/>
            </a:avLst>
          </a:prstGeom>
          <a:solidFill>
            <a:srgbClr val="2B1B1F"/>
          </a:solidFill>
          <a:ln w="12700">
            <a:solidFill>
              <a:srgbClr val="2B1B1F"/>
            </a:solidFill>
            <a:prstDash val="solid"/>
          </a:ln>
        </p:spPr>
      </p:sp>
      <p:sp>
        <p:nvSpPr>
          <p:cNvPr id="16" name="Text 14"/>
          <p:cNvSpPr/>
          <p:nvPr/>
        </p:nvSpPr>
        <p:spPr>
          <a:xfrm>
            <a:off x="640080" y="5074920"/>
            <a:ext cx="6858000" cy="685800"/>
          </a:xfrm>
          <a:prstGeom prst="rect">
            <a:avLst/>
          </a:prstGeom>
          <a:noFill/>
          <a:ln/>
        </p:spPr>
        <p:txBody>
          <a:bodyPr wrap="square" rtlCol="0" anchor="ctr"/>
          <a:lstStyle/>
          <a:p>
            <a:pPr marL="0" indent="0" algn="ctr">
              <a:buNone/>
            </a:pPr>
            <a:r>
              <a:rPr lang="en-US" sz="2800" b="1" dirty="0">
                <a:solidFill>
                  <a:srgbClr val="FCF6F5"/>
                </a:solidFill>
                <a:latin typeface="Calibri" pitchFamily="34" charset="0"/>
                <a:ea typeface="Calibri" pitchFamily="34" charset="-122"/>
                <a:cs typeface="Calibri" pitchFamily="34" charset="-120"/>
              </a:rPr>
              <a:t>MongoDB Database  (Data Storage)</a:t>
            </a:r>
            <a:endParaRPr lang="en-US" sz="2800" dirty="0"/>
          </a:p>
        </p:txBody>
      </p:sp>
      <p:sp>
        <p:nvSpPr>
          <p:cNvPr id="17" name="Shape 15"/>
          <p:cNvSpPr/>
          <p:nvPr/>
        </p:nvSpPr>
        <p:spPr>
          <a:xfrm>
            <a:off x="8183880" y="2016252"/>
            <a:ext cx="3566160" cy="3931920"/>
          </a:xfrm>
          <a:prstGeom prst="roundRect">
            <a:avLst>
              <a:gd name="adj" fmla="val 3846"/>
            </a:avLst>
          </a:prstGeom>
          <a:solidFill>
            <a:srgbClr val="ECE2D0"/>
          </a:solidFill>
          <a:ln w="12700">
            <a:solidFill>
              <a:srgbClr val="A26769"/>
            </a:solidFill>
            <a:prstDash val="solid"/>
          </a:ln>
        </p:spPr>
      </p:sp>
      <p:sp>
        <p:nvSpPr>
          <p:cNvPr id="18" name="Text 16"/>
          <p:cNvSpPr/>
          <p:nvPr/>
        </p:nvSpPr>
        <p:spPr>
          <a:xfrm>
            <a:off x="8321040" y="2331720"/>
            <a:ext cx="3291840" cy="457200"/>
          </a:xfrm>
          <a:prstGeom prst="rect">
            <a:avLst/>
          </a:prstGeom>
          <a:noFill/>
          <a:ln/>
        </p:spPr>
        <p:txBody>
          <a:bodyPr wrap="square" rtlCol="0" anchor="ctr"/>
          <a:lstStyle/>
          <a:p>
            <a:pPr marL="0" indent="0">
              <a:buNone/>
            </a:pPr>
            <a:r>
              <a:rPr lang="en-US" sz="3200" b="1" dirty="0">
                <a:solidFill>
                  <a:srgbClr val="6D2E46"/>
                </a:solidFill>
                <a:latin typeface="Georgia" pitchFamily="34" charset="0"/>
                <a:ea typeface="Georgia" pitchFamily="34" charset="-122"/>
                <a:cs typeface="Georgia" pitchFamily="34" charset="-120"/>
              </a:rPr>
              <a:t>Modules</a:t>
            </a:r>
            <a:endParaRPr lang="en-US" sz="3200" dirty="0"/>
          </a:p>
        </p:txBody>
      </p:sp>
      <p:sp>
        <p:nvSpPr>
          <p:cNvPr id="19" name="Text 17"/>
          <p:cNvSpPr/>
          <p:nvPr/>
        </p:nvSpPr>
        <p:spPr>
          <a:xfrm>
            <a:off x="8412480" y="2880360"/>
            <a:ext cx="3200400" cy="3108960"/>
          </a:xfrm>
          <a:prstGeom prst="rect">
            <a:avLst/>
          </a:prstGeom>
          <a:noFill/>
          <a:ln/>
        </p:spPr>
        <p:txBody>
          <a:bodyPr wrap="square" rtlCol="0" anchor="ctr"/>
          <a:lstStyle/>
          <a:p>
            <a:pPr marL="342900" indent="-342900">
              <a:spcAft>
                <a:spcPts val="1000"/>
              </a:spcAft>
              <a:buSzPct val="100000"/>
              <a:buChar char="●"/>
            </a:pPr>
            <a:r>
              <a:rPr lang="en-US" sz="2400" dirty="0">
                <a:solidFill>
                  <a:srgbClr val="2B1B1F"/>
                </a:solidFill>
                <a:latin typeface="Calibri" pitchFamily="34" charset="0"/>
                <a:ea typeface="Calibri" pitchFamily="34" charset="-122"/>
                <a:cs typeface="Calibri" pitchFamily="34" charset="-120"/>
              </a:rPr>
              <a:t>User Authentication</a:t>
            </a:r>
            <a:endParaRPr lang="en-US" sz="2400" dirty="0"/>
          </a:p>
          <a:p>
            <a:pPr marL="342900" indent="-342900">
              <a:spcAft>
                <a:spcPts val="1000"/>
              </a:spcAft>
              <a:buSzPct val="100000"/>
              <a:buChar char="●"/>
            </a:pPr>
            <a:r>
              <a:rPr lang="en-US" sz="2400" dirty="0">
                <a:solidFill>
                  <a:srgbClr val="2B1B1F"/>
                </a:solidFill>
                <a:latin typeface="Calibri" pitchFamily="34" charset="0"/>
                <a:ea typeface="Calibri" pitchFamily="34" charset="-122"/>
                <a:cs typeface="Calibri" pitchFamily="34" charset="-120"/>
              </a:rPr>
              <a:t>Product Management</a:t>
            </a:r>
            <a:endParaRPr lang="en-US" sz="2400" dirty="0"/>
          </a:p>
          <a:p>
            <a:pPr marL="342900" indent="-342900">
              <a:spcAft>
                <a:spcPts val="1000"/>
              </a:spcAft>
              <a:buSzPct val="100000"/>
              <a:buChar char="●"/>
            </a:pPr>
            <a:r>
              <a:rPr lang="en-US" sz="2400" dirty="0">
                <a:solidFill>
                  <a:srgbClr val="2B1B1F"/>
                </a:solidFill>
                <a:latin typeface="Calibri" pitchFamily="34" charset="0"/>
                <a:ea typeface="Calibri" pitchFamily="34" charset="-122"/>
                <a:cs typeface="Calibri" pitchFamily="34" charset="-120"/>
              </a:rPr>
              <a:t>Shopping Cart</a:t>
            </a:r>
            <a:endParaRPr lang="en-US" sz="2400" dirty="0"/>
          </a:p>
          <a:p>
            <a:pPr marL="342900" indent="-342900">
              <a:spcAft>
                <a:spcPts val="1000"/>
              </a:spcAft>
              <a:buSzPct val="100000"/>
              <a:buChar char="●"/>
            </a:pPr>
            <a:r>
              <a:rPr lang="en-US" sz="2400" dirty="0">
                <a:solidFill>
                  <a:srgbClr val="2B1B1F"/>
                </a:solidFill>
                <a:latin typeface="Calibri" pitchFamily="34" charset="0"/>
                <a:ea typeface="Calibri" pitchFamily="34" charset="-122"/>
                <a:cs typeface="Calibri" pitchFamily="34" charset="-120"/>
              </a:rPr>
              <a:t>Order Management</a:t>
            </a:r>
            <a:endParaRPr lang="en-US" sz="2400" dirty="0"/>
          </a:p>
          <a:p>
            <a:pPr marL="342900" indent="-342900">
              <a:spcAft>
                <a:spcPts val="1000"/>
              </a:spcAft>
              <a:buSzPct val="100000"/>
              <a:buChar char="●"/>
            </a:pPr>
            <a:r>
              <a:rPr lang="en-US" sz="2400" dirty="0">
                <a:solidFill>
                  <a:srgbClr val="2B1B1F"/>
                </a:solidFill>
                <a:latin typeface="Calibri" pitchFamily="34" charset="0"/>
                <a:ea typeface="Calibri" pitchFamily="34" charset="-122"/>
                <a:cs typeface="Calibri" pitchFamily="34" charset="-120"/>
              </a:rPr>
              <a:t>Contact Form</a:t>
            </a:r>
            <a:endParaRPr lang="en-US" sz="2400" dirty="0"/>
          </a:p>
        </p:txBody>
      </p:sp>
      <p:sp>
        <p:nvSpPr>
          <p:cNvPr id="20" name="Text 18"/>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21" name="Text 19"/>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5 / 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05  •  FEATURES</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Features and Functionalities</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Customer and admin capabilities</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457200" y="2194560"/>
            <a:ext cx="5394960" cy="3931920"/>
          </a:xfrm>
          <a:prstGeom prst="roundRect">
            <a:avLst>
              <a:gd name="adj" fmla="val 3488"/>
            </a:avLst>
          </a:prstGeom>
          <a:solidFill>
            <a:srgbClr val="FFFFFF"/>
          </a:solidFill>
          <a:ln w="12700">
            <a:solidFill>
              <a:srgbClr val="ECE2D0"/>
            </a:solidFill>
            <a:prstDash val="solid"/>
          </a:ln>
        </p:spPr>
        <p:txBody>
          <a:bodyPr/>
          <a:lstStyle/>
          <a:p>
            <a:endParaRPr lang="en-IN" dirty="0"/>
          </a:p>
        </p:txBody>
      </p:sp>
      <p:sp>
        <p:nvSpPr>
          <p:cNvPr id="7" name="Shape 5"/>
          <p:cNvSpPr/>
          <p:nvPr/>
        </p:nvSpPr>
        <p:spPr>
          <a:xfrm>
            <a:off x="457200" y="2194560"/>
            <a:ext cx="5394960" cy="640080"/>
          </a:xfrm>
          <a:prstGeom prst="rect">
            <a:avLst/>
          </a:prstGeom>
          <a:solidFill>
            <a:srgbClr val="A26769"/>
          </a:solidFill>
          <a:ln w="12700">
            <a:solidFill>
              <a:srgbClr val="A26769"/>
            </a:solidFill>
            <a:prstDash val="solid"/>
          </a:ln>
        </p:spPr>
      </p:sp>
      <p:sp>
        <p:nvSpPr>
          <p:cNvPr id="8" name="Text 6"/>
          <p:cNvSpPr/>
          <p:nvPr/>
        </p:nvSpPr>
        <p:spPr>
          <a:xfrm>
            <a:off x="731520" y="2194560"/>
            <a:ext cx="4023360" cy="640080"/>
          </a:xfrm>
          <a:prstGeom prst="rect">
            <a:avLst/>
          </a:prstGeom>
          <a:noFill/>
          <a:ln/>
        </p:spPr>
        <p:txBody>
          <a:bodyPr wrap="square" rtlCol="0" anchor="ctr"/>
          <a:lstStyle/>
          <a:p>
            <a:pPr marL="0" indent="0">
              <a:buNone/>
            </a:pPr>
            <a:r>
              <a:rPr lang="en-US" sz="2800" b="1" dirty="0">
                <a:solidFill>
                  <a:srgbClr val="FCF6F5"/>
                </a:solidFill>
                <a:latin typeface="Georgia" pitchFamily="34" charset="0"/>
                <a:ea typeface="Georgia" pitchFamily="34" charset="-122"/>
                <a:cs typeface="Georgia" pitchFamily="34" charset="-120"/>
              </a:rPr>
              <a:t>Customer Features</a:t>
            </a:r>
            <a:endParaRPr lang="en-US" sz="2800" dirty="0"/>
          </a:p>
        </p:txBody>
      </p:sp>
      <p:pic>
        <p:nvPicPr>
          <p:cNvPr id="9" name="Image 0" descr="preencoded.png"/>
          <p:cNvPicPr>
            <a:picLocks noChangeAspect="1"/>
          </p:cNvPicPr>
          <p:nvPr/>
        </p:nvPicPr>
        <p:blipFill>
          <a:blip r:embed="rId3"/>
          <a:srcRect/>
          <a:stretch/>
        </p:blipFill>
        <p:spPr>
          <a:xfrm>
            <a:off x="5166360" y="2240280"/>
            <a:ext cx="548640" cy="548640"/>
          </a:xfrm>
          <a:prstGeom prst="ellipse">
            <a:avLst/>
          </a:prstGeom>
        </p:spPr>
      </p:pic>
      <p:sp>
        <p:nvSpPr>
          <p:cNvPr id="10" name="Text 7"/>
          <p:cNvSpPr/>
          <p:nvPr/>
        </p:nvSpPr>
        <p:spPr>
          <a:xfrm>
            <a:off x="822960" y="3108960"/>
            <a:ext cx="4937760" cy="2926080"/>
          </a:xfrm>
          <a:prstGeom prst="rect">
            <a:avLst/>
          </a:prstGeom>
          <a:noFill/>
          <a:ln/>
        </p:spPr>
        <p:txBody>
          <a:bodyPr wrap="square" rtlCol="0" anchor="ctr"/>
          <a:lstStyle/>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User Registration</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User Login</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Browse Bakery Products</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Search Products</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Add to Cart</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Update Cart Quantity</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Checkout</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Place Order</a:t>
            </a:r>
            <a:endParaRPr lang="en-US" dirty="0"/>
          </a:p>
          <a:p>
            <a:pPr marL="342900" indent="-342900">
              <a:spcAft>
                <a:spcPts val="600"/>
              </a:spcAft>
              <a:buSzPct val="100000"/>
              <a:buChar char="●"/>
            </a:pPr>
            <a:r>
              <a:rPr lang="en-US" dirty="0">
                <a:solidFill>
                  <a:srgbClr val="2B1B1F"/>
                </a:solidFill>
                <a:latin typeface="Calibri" pitchFamily="34" charset="0"/>
                <a:ea typeface="Calibri" pitchFamily="34" charset="-122"/>
                <a:cs typeface="Calibri" pitchFamily="34" charset="-120"/>
              </a:rPr>
              <a:t>Contact Bakery</a:t>
            </a:r>
            <a:endParaRPr lang="en-US" dirty="0"/>
          </a:p>
        </p:txBody>
      </p:sp>
      <p:sp>
        <p:nvSpPr>
          <p:cNvPr id="11" name="Shape 8"/>
          <p:cNvSpPr/>
          <p:nvPr/>
        </p:nvSpPr>
        <p:spPr>
          <a:xfrm>
            <a:off x="6309360" y="2194560"/>
            <a:ext cx="5394960" cy="3931920"/>
          </a:xfrm>
          <a:prstGeom prst="roundRect">
            <a:avLst>
              <a:gd name="adj" fmla="val 3488"/>
            </a:avLst>
          </a:prstGeom>
          <a:solidFill>
            <a:srgbClr val="FFFFFF"/>
          </a:solidFill>
          <a:ln w="12700">
            <a:solidFill>
              <a:srgbClr val="ECE2D0"/>
            </a:solidFill>
            <a:prstDash val="solid"/>
          </a:ln>
        </p:spPr>
      </p:sp>
      <p:sp>
        <p:nvSpPr>
          <p:cNvPr id="12" name="Shape 9"/>
          <p:cNvSpPr/>
          <p:nvPr/>
        </p:nvSpPr>
        <p:spPr>
          <a:xfrm>
            <a:off x="6309360" y="2194560"/>
            <a:ext cx="5394960" cy="640080"/>
          </a:xfrm>
          <a:prstGeom prst="rect">
            <a:avLst/>
          </a:prstGeom>
          <a:solidFill>
            <a:srgbClr val="6D2E46"/>
          </a:solidFill>
          <a:ln w="12700">
            <a:solidFill>
              <a:srgbClr val="6D2E46"/>
            </a:solidFill>
            <a:prstDash val="solid"/>
          </a:ln>
        </p:spPr>
      </p:sp>
      <p:sp>
        <p:nvSpPr>
          <p:cNvPr id="13" name="Text 10"/>
          <p:cNvSpPr/>
          <p:nvPr/>
        </p:nvSpPr>
        <p:spPr>
          <a:xfrm>
            <a:off x="6583680" y="2194560"/>
            <a:ext cx="4023360" cy="640080"/>
          </a:xfrm>
          <a:prstGeom prst="rect">
            <a:avLst/>
          </a:prstGeom>
          <a:noFill/>
          <a:ln/>
        </p:spPr>
        <p:txBody>
          <a:bodyPr wrap="square" rtlCol="0" anchor="ctr"/>
          <a:lstStyle/>
          <a:p>
            <a:pPr marL="0" indent="0">
              <a:buNone/>
            </a:pPr>
            <a:r>
              <a:rPr lang="en-US" sz="2800" b="1" dirty="0">
                <a:solidFill>
                  <a:srgbClr val="FCF6F5"/>
                </a:solidFill>
                <a:latin typeface="Georgia" pitchFamily="34" charset="0"/>
                <a:ea typeface="Georgia" pitchFamily="34" charset="-122"/>
                <a:cs typeface="Georgia" pitchFamily="34" charset="-120"/>
              </a:rPr>
              <a:t>Admin Features</a:t>
            </a:r>
            <a:endParaRPr lang="en-US" sz="2800" dirty="0"/>
          </a:p>
        </p:txBody>
      </p:sp>
      <p:pic>
        <p:nvPicPr>
          <p:cNvPr id="14" name="Image 1" descr="preencoded.png"/>
          <p:cNvPicPr>
            <a:picLocks noChangeAspect="1"/>
          </p:cNvPicPr>
          <p:nvPr/>
        </p:nvPicPr>
        <p:blipFill>
          <a:blip r:embed="rId4"/>
          <a:srcRect/>
          <a:stretch/>
        </p:blipFill>
        <p:spPr>
          <a:xfrm>
            <a:off x="11018520" y="2240280"/>
            <a:ext cx="548640" cy="548640"/>
          </a:xfrm>
          <a:prstGeom prst="ellipse">
            <a:avLst/>
          </a:prstGeom>
        </p:spPr>
      </p:pic>
      <p:sp>
        <p:nvSpPr>
          <p:cNvPr id="15" name="Text 11"/>
          <p:cNvSpPr/>
          <p:nvPr/>
        </p:nvSpPr>
        <p:spPr>
          <a:xfrm>
            <a:off x="6675120" y="2971800"/>
            <a:ext cx="4937760" cy="3063240"/>
          </a:xfrm>
          <a:prstGeom prst="rect">
            <a:avLst/>
          </a:prstGeom>
          <a:noFill/>
          <a:ln/>
        </p:spPr>
        <p:txBody>
          <a:bodyPr wrap="square" rtlCol="0" anchor="ctr"/>
          <a:lstStyle/>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Add Products</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Edit Products</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Delete Products</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View Customer Orders</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Manage Inventory</a:t>
            </a:r>
            <a:endParaRPr lang="en-US" sz="2400" dirty="0"/>
          </a:p>
        </p:txBody>
      </p:sp>
      <p:sp>
        <p:nvSpPr>
          <p:cNvPr id="16" name="Text 12"/>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17" name="Text 13"/>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6 / 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06  •  DATA</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Database Design &amp; Workflow</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Collections and process flow</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457200" y="2194560"/>
            <a:ext cx="2423160" cy="3931920"/>
          </a:xfrm>
          <a:prstGeom prst="roundRect">
            <a:avLst>
              <a:gd name="adj" fmla="val 3774"/>
            </a:avLst>
          </a:prstGeom>
          <a:solidFill>
            <a:srgbClr val="FFFFFF"/>
          </a:solidFill>
          <a:ln w="12700">
            <a:solidFill>
              <a:srgbClr val="ECE2D0"/>
            </a:solidFill>
            <a:prstDash val="solid"/>
          </a:ln>
        </p:spPr>
      </p:sp>
      <p:sp>
        <p:nvSpPr>
          <p:cNvPr id="7" name="Shape 5"/>
          <p:cNvSpPr/>
          <p:nvPr/>
        </p:nvSpPr>
        <p:spPr>
          <a:xfrm>
            <a:off x="457200" y="2194560"/>
            <a:ext cx="2423160" cy="548640"/>
          </a:xfrm>
          <a:prstGeom prst="rect">
            <a:avLst/>
          </a:prstGeom>
          <a:solidFill>
            <a:srgbClr val="6D2E46"/>
          </a:solidFill>
          <a:ln w="12700">
            <a:solidFill>
              <a:srgbClr val="6D2E46"/>
            </a:solidFill>
            <a:prstDash val="solid"/>
          </a:ln>
        </p:spPr>
      </p:sp>
      <p:sp>
        <p:nvSpPr>
          <p:cNvPr id="8" name="Text 6"/>
          <p:cNvSpPr/>
          <p:nvPr/>
        </p:nvSpPr>
        <p:spPr>
          <a:xfrm>
            <a:off x="457200" y="2194560"/>
            <a:ext cx="2423160" cy="548640"/>
          </a:xfrm>
          <a:prstGeom prst="rect">
            <a:avLst/>
          </a:prstGeom>
          <a:noFill/>
          <a:ln/>
        </p:spPr>
        <p:txBody>
          <a:bodyPr wrap="square" rtlCol="0" anchor="ctr"/>
          <a:lstStyle/>
          <a:p>
            <a:pPr marL="0" indent="0" algn="ctr">
              <a:buNone/>
            </a:pPr>
            <a:r>
              <a:rPr lang="en-US" sz="2800" b="1" dirty="0">
                <a:solidFill>
                  <a:srgbClr val="FCF6F5"/>
                </a:solidFill>
                <a:latin typeface="Georgia" pitchFamily="34" charset="0"/>
                <a:ea typeface="Georgia" pitchFamily="34" charset="-122"/>
                <a:cs typeface="Georgia" pitchFamily="34" charset="-120"/>
              </a:rPr>
              <a:t>Users</a:t>
            </a:r>
            <a:endParaRPr lang="en-US" sz="2800" dirty="0"/>
          </a:p>
        </p:txBody>
      </p:sp>
      <p:sp>
        <p:nvSpPr>
          <p:cNvPr id="9" name="Text 7"/>
          <p:cNvSpPr/>
          <p:nvPr/>
        </p:nvSpPr>
        <p:spPr>
          <a:xfrm>
            <a:off x="685800" y="2880360"/>
            <a:ext cx="2148840" cy="3108960"/>
          </a:xfrm>
          <a:prstGeom prst="rect">
            <a:avLst/>
          </a:prstGeom>
          <a:noFill/>
          <a:ln/>
        </p:spPr>
        <p:txBody>
          <a:bodyPr wrap="square" rtlCol="0" anchor="ctr"/>
          <a:lstStyle/>
          <a:p>
            <a:pPr marL="342900" indent="-342900">
              <a:spcAft>
                <a:spcPts val="600"/>
              </a:spcAft>
              <a:buSzPct val="100000"/>
              <a:buChar char="○"/>
            </a:pPr>
            <a:r>
              <a:rPr lang="en-US" sz="2800" dirty="0">
                <a:solidFill>
                  <a:srgbClr val="2B1B1F"/>
                </a:solidFill>
                <a:latin typeface="Calibri" pitchFamily="34" charset="0"/>
                <a:ea typeface="Calibri" pitchFamily="34" charset="-122"/>
                <a:cs typeface="Calibri" pitchFamily="34" charset="-120"/>
              </a:rPr>
              <a:t>User ID</a:t>
            </a:r>
            <a:endParaRPr lang="en-US" sz="2800" dirty="0"/>
          </a:p>
          <a:p>
            <a:pPr marL="342900" indent="-342900">
              <a:spcAft>
                <a:spcPts val="600"/>
              </a:spcAft>
              <a:buSzPct val="100000"/>
              <a:buChar char="○"/>
            </a:pPr>
            <a:r>
              <a:rPr lang="en-US" sz="2800" dirty="0">
                <a:solidFill>
                  <a:srgbClr val="2B1B1F"/>
                </a:solidFill>
                <a:latin typeface="Calibri" pitchFamily="34" charset="0"/>
                <a:ea typeface="Calibri" pitchFamily="34" charset="-122"/>
                <a:cs typeface="Calibri" pitchFamily="34" charset="-120"/>
              </a:rPr>
              <a:t>Name</a:t>
            </a:r>
            <a:endParaRPr lang="en-US" sz="2800" dirty="0"/>
          </a:p>
          <a:p>
            <a:pPr marL="342900" indent="-342900">
              <a:spcAft>
                <a:spcPts val="600"/>
              </a:spcAft>
              <a:buSzPct val="100000"/>
              <a:buChar char="○"/>
            </a:pPr>
            <a:r>
              <a:rPr lang="en-US" sz="2800" dirty="0">
                <a:solidFill>
                  <a:srgbClr val="2B1B1F"/>
                </a:solidFill>
                <a:latin typeface="Calibri" pitchFamily="34" charset="0"/>
                <a:ea typeface="Calibri" pitchFamily="34" charset="-122"/>
                <a:cs typeface="Calibri" pitchFamily="34" charset="-120"/>
              </a:rPr>
              <a:t>Email</a:t>
            </a:r>
            <a:endParaRPr lang="en-US" sz="2800" dirty="0"/>
          </a:p>
          <a:p>
            <a:pPr marL="342900" indent="-342900">
              <a:spcAft>
                <a:spcPts val="600"/>
              </a:spcAft>
              <a:buSzPct val="100000"/>
              <a:buChar char="○"/>
            </a:pPr>
            <a:r>
              <a:rPr lang="en-US" sz="2800" dirty="0">
                <a:solidFill>
                  <a:srgbClr val="2B1B1F"/>
                </a:solidFill>
                <a:latin typeface="Calibri" pitchFamily="34" charset="0"/>
                <a:ea typeface="Calibri" pitchFamily="34" charset="-122"/>
                <a:cs typeface="Calibri" pitchFamily="34" charset="-120"/>
              </a:rPr>
              <a:t>Password</a:t>
            </a:r>
            <a:endParaRPr lang="en-US" sz="2800" dirty="0"/>
          </a:p>
        </p:txBody>
      </p:sp>
      <p:sp>
        <p:nvSpPr>
          <p:cNvPr id="10" name="Shape 8"/>
          <p:cNvSpPr/>
          <p:nvPr/>
        </p:nvSpPr>
        <p:spPr>
          <a:xfrm>
            <a:off x="3063240" y="2194560"/>
            <a:ext cx="2423160" cy="3931920"/>
          </a:xfrm>
          <a:prstGeom prst="roundRect">
            <a:avLst>
              <a:gd name="adj" fmla="val 3774"/>
            </a:avLst>
          </a:prstGeom>
          <a:solidFill>
            <a:srgbClr val="FFFFFF"/>
          </a:solidFill>
          <a:ln w="12700">
            <a:solidFill>
              <a:srgbClr val="ECE2D0"/>
            </a:solidFill>
            <a:prstDash val="solid"/>
          </a:ln>
        </p:spPr>
      </p:sp>
      <p:sp>
        <p:nvSpPr>
          <p:cNvPr id="11" name="Shape 9"/>
          <p:cNvSpPr/>
          <p:nvPr/>
        </p:nvSpPr>
        <p:spPr>
          <a:xfrm>
            <a:off x="3063240" y="2194560"/>
            <a:ext cx="2423160" cy="548640"/>
          </a:xfrm>
          <a:prstGeom prst="rect">
            <a:avLst/>
          </a:prstGeom>
          <a:solidFill>
            <a:srgbClr val="6D2E46"/>
          </a:solidFill>
          <a:ln w="12700">
            <a:solidFill>
              <a:srgbClr val="6D2E46"/>
            </a:solidFill>
            <a:prstDash val="solid"/>
          </a:ln>
        </p:spPr>
      </p:sp>
      <p:sp>
        <p:nvSpPr>
          <p:cNvPr id="12" name="Text 10"/>
          <p:cNvSpPr/>
          <p:nvPr/>
        </p:nvSpPr>
        <p:spPr>
          <a:xfrm>
            <a:off x="3063240" y="2194560"/>
            <a:ext cx="2423160" cy="548640"/>
          </a:xfrm>
          <a:prstGeom prst="rect">
            <a:avLst/>
          </a:prstGeom>
          <a:noFill/>
          <a:ln/>
        </p:spPr>
        <p:txBody>
          <a:bodyPr wrap="square" rtlCol="0" anchor="ctr"/>
          <a:lstStyle/>
          <a:p>
            <a:pPr marL="0" indent="0" algn="ctr">
              <a:buNone/>
            </a:pPr>
            <a:r>
              <a:rPr lang="en-US" sz="2800" b="1" dirty="0">
                <a:solidFill>
                  <a:srgbClr val="FCF6F5"/>
                </a:solidFill>
                <a:latin typeface="Georgia" pitchFamily="34" charset="0"/>
                <a:ea typeface="Georgia" pitchFamily="34" charset="-122"/>
                <a:cs typeface="Georgia" pitchFamily="34" charset="-120"/>
              </a:rPr>
              <a:t>Products</a:t>
            </a:r>
            <a:endParaRPr lang="en-US" sz="2800" dirty="0"/>
          </a:p>
        </p:txBody>
      </p:sp>
      <p:sp>
        <p:nvSpPr>
          <p:cNvPr id="13" name="Text 11"/>
          <p:cNvSpPr/>
          <p:nvPr/>
        </p:nvSpPr>
        <p:spPr>
          <a:xfrm>
            <a:off x="3291840" y="2880360"/>
            <a:ext cx="2148840" cy="3108960"/>
          </a:xfrm>
          <a:prstGeom prst="rect">
            <a:avLst/>
          </a:prstGeom>
          <a:noFill/>
          <a:ln/>
        </p:spPr>
        <p:txBody>
          <a:bodyPr wrap="square" rtlCol="0" anchor="ctr"/>
          <a:lstStyle/>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Product ID</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Product Name</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Category</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Price</a:t>
            </a:r>
            <a:endParaRPr lang="en-US" sz="2400" dirty="0"/>
          </a:p>
          <a:p>
            <a:pPr marL="342900" indent="-342900">
              <a:spcAft>
                <a:spcPts val="600"/>
              </a:spcAft>
              <a:buSzPct val="100000"/>
              <a:buChar char="○"/>
            </a:pPr>
            <a:r>
              <a:rPr lang="en-US" sz="2400" dirty="0">
                <a:solidFill>
                  <a:srgbClr val="2B1B1F"/>
                </a:solidFill>
                <a:latin typeface="Calibri" pitchFamily="34" charset="0"/>
                <a:ea typeface="Calibri" pitchFamily="34" charset="-122"/>
                <a:cs typeface="Calibri" pitchFamily="34" charset="-120"/>
              </a:rPr>
              <a:t>Image</a:t>
            </a:r>
            <a:endParaRPr lang="en-US" sz="2400" dirty="0"/>
          </a:p>
        </p:txBody>
      </p:sp>
      <p:sp>
        <p:nvSpPr>
          <p:cNvPr id="14" name="Shape 12"/>
          <p:cNvSpPr/>
          <p:nvPr/>
        </p:nvSpPr>
        <p:spPr>
          <a:xfrm>
            <a:off x="5669280" y="2194560"/>
            <a:ext cx="2423160" cy="3931920"/>
          </a:xfrm>
          <a:prstGeom prst="roundRect">
            <a:avLst>
              <a:gd name="adj" fmla="val 3774"/>
            </a:avLst>
          </a:prstGeom>
          <a:solidFill>
            <a:srgbClr val="FFFFFF"/>
          </a:solidFill>
          <a:ln w="12700">
            <a:solidFill>
              <a:srgbClr val="ECE2D0"/>
            </a:solidFill>
            <a:prstDash val="solid"/>
          </a:ln>
        </p:spPr>
      </p:sp>
      <p:sp>
        <p:nvSpPr>
          <p:cNvPr id="15" name="Shape 13"/>
          <p:cNvSpPr/>
          <p:nvPr/>
        </p:nvSpPr>
        <p:spPr>
          <a:xfrm>
            <a:off x="5669280" y="2194560"/>
            <a:ext cx="2423160" cy="548640"/>
          </a:xfrm>
          <a:prstGeom prst="rect">
            <a:avLst/>
          </a:prstGeom>
          <a:solidFill>
            <a:srgbClr val="6D2E46"/>
          </a:solidFill>
          <a:ln w="12700">
            <a:solidFill>
              <a:srgbClr val="6D2E46"/>
            </a:solidFill>
            <a:prstDash val="solid"/>
          </a:ln>
        </p:spPr>
      </p:sp>
      <p:sp>
        <p:nvSpPr>
          <p:cNvPr id="16" name="Text 14"/>
          <p:cNvSpPr/>
          <p:nvPr/>
        </p:nvSpPr>
        <p:spPr>
          <a:xfrm>
            <a:off x="5669280" y="2194560"/>
            <a:ext cx="2423160" cy="548640"/>
          </a:xfrm>
          <a:prstGeom prst="rect">
            <a:avLst/>
          </a:prstGeom>
          <a:noFill/>
          <a:ln/>
        </p:spPr>
        <p:txBody>
          <a:bodyPr wrap="square" rtlCol="0" anchor="ctr"/>
          <a:lstStyle/>
          <a:p>
            <a:pPr marL="0" indent="0" algn="ctr">
              <a:buNone/>
            </a:pPr>
            <a:r>
              <a:rPr lang="en-US" sz="2800" b="1" dirty="0">
                <a:solidFill>
                  <a:srgbClr val="FCF6F5"/>
                </a:solidFill>
                <a:latin typeface="Georgia" pitchFamily="34" charset="0"/>
                <a:ea typeface="Georgia" pitchFamily="34" charset="-122"/>
                <a:cs typeface="Georgia" pitchFamily="34" charset="-120"/>
              </a:rPr>
              <a:t>Orders</a:t>
            </a:r>
            <a:endParaRPr lang="en-US" sz="2800" dirty="0"/>
          </a:p>
        </p:txBody>
      </p:sp>
      <p:sp>
        <p:nvSpPr>
          <p:cNvPr id="17" name="Text 15"/>
          <p:cNvSpPr/>
          <p:nvPr/>
        </p:nvSpPr>
        <p:spPr>
          <a:xfrm>
            <a:off x="5897880" y="2880360"/>
            <a:ext cx="2148840" cy="3108960"/>
          </a:xfrm>
          <a:prstGeom prst="rect">
            <a:avLst/>
          </a:prstGeom>
          <a:noFill/>
          <a:ln/>
        </p:spPr>
        <p:txBody>
          <a:bodyPr wrap="square" rtlCol="0" anchor="ctr"/>
          <a:lstStyle/>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Order ID</a:t>
            </a:r>
            <a:endParaRPr lang="en-US" sz="2000" dirty="0"/>
          </a:p>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User ID</a:t>
            </a:r>
            <a:endParaRPr lang="en-US" sz="2000" dirty="0"/>
          </a:p>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Product Details</a:t>
            </a:r>
            <a:endParaRPr lang="en-US" sz="2000" dirty="0"/>
          </a:p>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Quantity</a:t>
            </a:r>
            <a:endParaRPr lang="en-US" sz="2000" dirty="0"/>
          </a:p>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Total Amount</a:t>
            </a:r>
            <a:endParaRPr lang="en-US" sz="2000" dirty="0"/>
          </a:p>
          <a:p>
            <a:pPr marL="342900" indent="-342900">
              <a:spcAft>
                <a:spcPts val="600"/>
              </a:spcAft>
              <a:buSzPct val="100000"/>
              <a:buChar char="○"/>
            </a:pPr>
            <a:r>
              <a:rPr lang="en-US" sz="2000" dirty="0">
                <a:solidFill>
                  <a:srgbClr val="2B1B1F"/>
                </a:solidFill>
                <a:latin typeface="Calibri" pitchFamily="34" charset="0"/>
                <a:ea typeface="Calibri" pitchFamily="34" charset="-122"/>
                <a:cs typeface="Calibri" pitchFamily="34" charset="-120"/>
              </a:rPr>
              <a:t>Order Status</a:t>
            </a:r>
            <a:endParaRPr lang="en-US" sz="2000" dirty="0"/>
          </a:p>
        </p:txBody>
      </p:sp>
      <p:sp>
        <p:nvSpPr>
          <p:cNvPr id="18" name="Shape 16"/>
          <p:cNvSpPr/>
          <p:nvPr/>
        </p:nvSpPr>
        <p:spPr>
          <a:xfrm>
            <a:off x="8549640" y="2194560"/>
            <a:ext cx="3154680" cy="3931920"/>
          </a:xfrm>
          <a:prstGeom prst="roundRect">
            <a:avLst>
              <a:gd name="adj" fmla="val 2899"/>
            </a:avLst>
          </a:prstGeom>
          <a:solidFill>
            <a:srgbClr val="ECE2D0"/>
          </a:solidFill>
          <a:ln w="12700">
            <a:solidFill>
              <a:srgbClr val="A26769"/>
            </a:solidFill>
            <a:prstDash val="solid"/>
          </a:ln>
        </p:spPr>
      </p:sp>
      <p:sp>
        <p:nvSpPr>
          <p:cNvPr id="19" name="Text 17"/>
          <p:cNvSpPr/>
          <p:nvPr/>
        </p:nvSpPr>
        <p:spPr>
          <a:xfrm>
            <a:off x="8732520" y="2286000"/>
            <a:ext cx="2834640" cy="365760"/>
          </a:xfrm>
          <a:prstGeom prst="rect">
            <a:avLst/>
          </a:prstGeom>
          <a:noFill/>
          <a:ln/>
        </p:spPr>
        <p:txBody>
          <a:bodyPr wrap="square" rtlCol="0" anchor="ctr"/>
          <a:lstStyle/>
          <a:p>
            <a:pPr marL="0" indent="0">
              <a:buNone/>
            </a:pPr>
            <a:r>
              <a:rPr lang="en-US" sz="2400" b="1" dirty="0">
                <a:solidFill>
                  <a:srgbClr val="6D2E46"/>
                </a:solidFill>
                <a:latin typeface="Georgia" pitchFamily="34" charset="0"/>
                <a:ea typeface="Georgia" pitchFamily="34" charset="-122"/>
                <a:cs typeface="Georgia" pitchFamily="34" charset="-120"/>
              </a:rPr>
              <a:t>     Workflow</a:t>
            </a:r>
            <a:endParaRPr lang="en-US" sz="2400" dirty="0"/>
          </a:p>
        </p:txBody>
      </p:sp>
      <p:sp>
        <p:nvSpPr>
          <p:cNvPr id="20" name="Text 18"/>
          <p:cNvSpPr/>
          <p:nvPr/>
        </p:nvSpPr>
        <p:spPr>
          <a:xfrm>
            <a:off x="8686800" y="274320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Register / Login</a:t>
            </a:r>
            <a:endParaRPr lang="en-US" sz="2400" dirty="0"/>
          </a:p>
        </p:txBody>
      </p:sp>
      <p:sp>
        <p:nvSpPr>
          <p:cNvPr id="21" name="Text 19"/>
          <p:cNvSpPr/>
          <p:nvPr/>
        </p:nvSpPr>
        <p:spPr>
          <a:xfrm>
            <a:off x="8686800" y="2999232"/>
            <a:ext cx="2880360" cy="228600"/>
          </a:xfrm>
          <a:prstGeom prst="rect">
            <a:avLst/>
          </a:prstGeom>
          <a:noFill/>
          <a:ln/>
        </p:spPr>
        <p:txBody>
          <a:bodyPr wrap="square" rtlCol="0" anchor="ctr"/>
          <a:lstStyle/>
          <a:p>
            <a:pPr marL="0" indent="0" algn="ctr">
              <a:buNone/>
            </a:pPr>
            <a:r>
              <a:rPr lang="en-US" sz="1000" dirty="0">
                <a:solidFill>
                  <a:srgbClr val="A26769"/>
                </a:solidFill>
              </a:rPr>
              <a:t>▼</a:t>
            </a:r>
            <a:endParaRPr lang="en-US" sz="1000" dirty="0"/>
          </a:p>
        </p:txBody>
      </p:sp>
      <p:sp>
        <p:nvSpPr>
          <p:cNvPr id="22" name="Text 20"/>
          <p:cNvSpPr/>
          <p:nvPr/>
        </p:nvSpPr>
        <p:spPr>
          <a:xfrm>
            <a:off x="8686800" y="329184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Browse Products</a:t>
            </a:r>
            <a:endParaRPr lang="en-US" sz="2400" dirty="0"/>
          </a:p>
        </p:txBody>
      </p:sp>
      <p:sp>
        <p:nvSpPr>
          <p:cNvPr id="23" name="Text 21"/>
          <p:cNvSpPr/>
          <p:nvPr/>
        </p:nvSpPr>
        <p:spPr>
          <a:xfrm>
            <a:off x="8686800" y="3547872"/>
            <a:ext cx="2880360" cy="228600"/>
          </a:xfrm>
          <a:prstGeom prst="rect">
            <a:avLst/>
          </a:prstGeom>
          <a:noFill/>
          <a:ln/>
        </p:spPr>
        <p:txBody>
          <a:bodyPr wrap="square" rtlCol="0" anchor="ctr"/>
          <a:lstStyle/>
          <a:p>
            <a:pPr marL="0" indent="0" algn="ctr">
              <a:buNone/>
            </a:pPr>
            <a:r>
              <a:rPr lang="en-US" sz="1000" dirty="0">
                <a:solidFill>
                  <a:srgbClr val="A26769"/>
                </a:solidFill>
              </a:rPr>
              <a:t>▼</a:t>
            </a:r>
            <a:endParaRPr lang="en-US" sz="1000" dirty="0"/>
          </a:p>
        </p:txBody>
      </p:sp>
      <p:sp>
        <p:nvSpPr>
          <p:cNvPr id="24" name="Text 22"/>
          <p:cNvSpPr/>
          <p:nvPr/>
        </p:nvSpPr>
        <p:spPr>
          <a:xfrm>
            <a:off x="8686800" y="384048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Add to Cart</a:t>
            </a:r>
            <a:endParaRPr lang="en-US" sz="2400" dirty="0"/>
          </a:p>
        </p:txBody>
      </p:sp>
      <p:sp>
        <p:nvSpPr>
          <p:cNvPr id="25" name="Text 23"/>
          <p:cNvSpPr/>
          <p:nvPr/>
        </p:nvSpPr>
        <p:spPr>
          <a:xfrm>
            <a:off x="8686800" y="4096512"/>
            <a:ext cx="2880360" cy="228600"/>
          </a:xfrm>
          <a:prstGeom prst="rect">
            <a:avLst/>
          </a:prstGeom>
          <a:noFill/>
          <a:ln/>
        </p:spPr>
        <p:txBody>
          <a:bodyPr wrap="square" rtlCol="0" anchor="ctr"/>
          <a:lstStyle/>
          <a:p>
            <a:pPr marL="0" indent="0" algn="ctr">
              <a:buNone/>
            </a:pPr>
            <a:r>
              <a:rPr lang="en-US" sz="1000" dirty="0">
                <a:solidFill>
                  <a:srgbClr val="A26769"/>
                </a:solidFill>
              </a:rPr>
              <a:t>▼</a:t>
            </a:r>
            <a:endParaRPr lang="en-US" sz="1000" dirty="0"/>
          </a:p>
        </p:txBody>
      </p:sp>
      <p:sp>
        <p:nvSpPr>
          <p:cNvPr id="26" name="Text 24"/>
          <p:cNvSpPr/>
          <p:nvPr/>
        </p:nvSpPr>
        <p:spPr>
          <a:xfrm>
            <a:off x="8686800" y="438912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Checkout</a:t>
            </a:r>
            <a:endParaRPr lang="en-US" sz="2400" dirty="0"/>
          </a:p>
        </p:txBody>
      </p:sp>
      <p:sp>
        <p:nvSpPr>
          <p:cNvPr id="27" name="Text 25"/>
          <p:cNvSpPr/>
          <p:nvPr/>
        </p:nvSpPr>
        <p:spPr>
          <a:xfrm>
            <a:off x="8686800" y="4645152"/>
            <a:ext cx="2880360" cy="228600"/>
          </a:xfrm>
          <a:prstGeom prst="rect">
            <a:avLst/>
          </a:prstGeom>
          <a:noFill/>
          <a:ln/>
        </p:spPr>
        <p:txBody>
          <a:bodyPr wrap="square" rtlCol="0" anchor="ctr"/>
          <a:lstStyle/>
          <a:p>
            <a:pPr marL="0" indent="0" algn="ctr">
              <a:buNone/>
            </a:pPr>
            <a:r>
              <a:rPr lang="en-US" sz="1000" dirty="0">
                <a:solidFill>
                  <a:srgbClr val="A26769"/>
                </a:solidFill>
              </a:rPr>
              <a:t>▼</a:t>
            </a:r>
            <a:endParaRPr lang="en-US" sz="1000" dirty="0"/>
          </a:p>
        </p:txBody>
      </p:sp>
      <p:sp>
        <p:nvSpPr>
          <p:cNvPr id="28" name="Text 26"/>
          <p:cNvSpPr/>
          <p:nvPr/>
        </p:nvSpPr>
        <p:spPr>
          <a:xfrm>
            <a:off x="8686800" y="493776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Payment (Demo)</a:t>
            </a:r>
            <a:endParaRPr lang="en-US" sz="2400" dirty="0"/>
          </a:p>
        </p:txBody>
      </p:sp>
      <p:sp>
        <p:nvSpPr>
          <p:cNvPr id="29" name="Text 27"/>
          <p:cNvSpPr/>
          <p:nvPr/>
        </p:nvSpPr>
        <p:spPr>
          <a:xfrm>
            <a:off x="8686800" y="5193792"/>
            <a:ext cx="2880360" cy="228600"/>
          </a:xfrm>
          <a:prstGeom prst="rect">
            <a:avLst/>
          </a:prstGeom>
          <a:noFill/>
          <a:ln/>
        </p:spPr>
        <p:txBody>
          <a:bodyPr wrap="square" rtlCol="0" anchor="ctr"/>
          <a:lstStyle/>
          <a:p>
            <a:pPr marL="0" indent="0" algn="ctr">
              <a:buNone/>
            </a:pPr>
            <a:r>
              <a:rPr lang="en-US" sz="1000" dirty="0">
                <a:solidFill>
                  <a:srgbClr val="A26769"/>
                </a:solidFill>
              </a:rPr>
              <a:t>▼</a:t>
            </a:r>
            <a:endParaRPr lang="en-US" sz="1000" dirty="0"/>
          </a:p>
        </p:txBody>
      </p:sp>
      <p:sp>
        <p:nvSpPr>
          <p:cNvPr id="30" name="Text 28"/>
          <p:cNvSpPr/>
          <p:nvPr/>
        </p:nvSpPr>
        <p:spPr>
          <a:xfrm>
            <a:off x="8686800" y="5486400"/>
            <a:ext cx="2880360" cy="274320"/>
          </a:xfrm>
          <a:prstGeom prst="rect">
            <a:avLst/>
          </a:prstGeom>
          <a:noFill/>
          <a:ln/>
        </p:spPr>
        <p:txBody>
          <a:bodyPr wrap="square" rtlCol="0" anchor="ctr"/>
          <a:lstStyle/>
          <a:p>
            <a:pPr marL="0" indent="0" algn="ctr">
              <a:buNone/>
            </a:pPr>
            <a:r>
              <a:rPr lang="en-US" sz="2400" b="1" dirty="0">
                <a:solidFill>
                  <a:srgbClr val="2B1B1F"/>
                </a:solidFill>
                <a:latin typeface="Calibri" pitchFamily="34" charset="0"/>
                <a:ea typeface="Calibri" pitchFamily="34" charset="-122"/>
                <a:cs typeface="Calibri" pitchFamily="34" charset="-120"/>
              </a:rPr>
              <a:t>Order Confirmation</a:t>
            </a:r>
            <a:endParaRPr lang="en-US" sz="2400" dirty="0"/>
          </a:p>
        </p:txBody>
      </p:sp>
      <p:sp>
        <p:nvSpPr>
          <p:cNvPr id="31" name="Text 29"/>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32" name="Text 30"/>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7 / 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marL="0" indent="0">
              <a:buNone/>
            </a:pPr>
            <a:r>
              <a:rPr lang="en-US" sz="1100" b="1" kern="0" spc="400" dirty="0">
                <a:solidFill>
                  <a:srgbClr val="A26769"/>
                </a:solidFill>
                <a:latin typeface="Calibri" pitchFamily="34" charset="0"/>
                <a:ea typeface="Calibri" pitchFamily="34" charset="-122"/>
                <a:cs typeface="Calibri" pitchFamily="34" charset="-120"/>
              </a:rPr>
              <a:t>07  •  WRAP-UP</a:t>
            </a:r>
            <a:endParaRPr lang="en-US" sz="1100" dirty="0"/>
          </a:p>
        </p:txBody>
      </p:sp>
      <p:sp>
        <p:nvSpPr>
          <p:cNvPr id="3" name="Text 1"/>
          <p:cNvSpPr/>
          <p:nvPr/>
        </p:nvSpPr>
        <p:spPr>
          <a:xfrm>
            <a:off x="457200" y="640080"/>
            <a:ext cx="10972800" cy="731520"/>
          </a:xfrm>
          <a:prstGeom prst="rect">
            <a:avLst/>
          </a:prstGeom>
          <a:noFill/>
          <a:ln/>
        </p:spPr>
        <p:txBody>
          <a:bodyPr wrap="square" rtlCol="0" anchor="ctr"/>
          <a:lstStyle/>
          <a:p>
            <a:pPr marL="0" indent="0">
              <a:buNone/>
            </a:pPr>
            <a:r>
              <a:rPr lang="en-US" sz="3600" b="1" dirty="0">
                <a:solidFill>
                  <a:srgbClr val="6D2E46"/>
                </a:solidFill>
                <a:latin typeface="Georgia" pitchFamily="34" charset="0"/>
                <a:ea typeface="Georgia" pitchFamily="34" charset="-122"/>
                <a:cs typeface="Georgia" pitchFamily="34" charset="-120"/>
              </a:rPr>
              <a:t>Conclusion &amp; Future Enhancements</a:t>
            </a:r>
            <a:endParaRPr lang="en-US" sz="3600" dirty="0"/>
          </a:p>
        </p:txBody>
      </p:sp>
      <p:sp>
        <p:nvSpPr>
          <p:cNvPr id="4" name="Text 2"/>
          <p:cNvSpPr/>
          <p:nvPr/>
        </p:nvSpPr>
        <p:spPr>
          <a:xfrm>
            <a:off x="457200" y="1371600"/>
            <a:ext cx="10972800" cy="365760"/>
          </a:xfrm>
          <a:prstGeom prst="rect">
            <a:avLst/>
          </a:prstGeom>
          <a:noFill/>
          <a:ln/>
        </p:spPr>
        <p:txBody>
          <a:bodyPr wrap="square" rtlCol="0" anchor="ctr"/>
          <a:lstStyle/>
          <a:p>
            <a:pPr marL="0" indent="0">
              <a:buNone/>
            </a:pPr>
            <a:r>
              <a:rPr lang="en-US" sz="1600" i="1" dirty="0">
                <a:solidFill>
                  <a:srgbClr val="6B5B5E"/>
                </a:solidFill>
                <a:latin typeface="Calibri" pitchFamily="34" charset="0"/>
                <a:ea typeface="Calibri" pitchFamily="34" charset="-122"/>
                <a:cs typeface="Calibri" pitchFamily="34" charset="-120"/>
              </a:rPr>
              <a:t>Wrap-up and next steps</a:t>
            </a:r>
            <a:endParaRPr lang="en-US" sz="1600" dirty="0"/>
          </a:p>
        </p:txBody>
      </p:sp>
      <p:sp>
        <p:nvSpPr>
          <p:cNvPr id="5" name="Shape 3"/>
          <p:cNvSpPr/>
          <p:nvPr/>
        </p:nvSpPr>
        <p:spPr>
          <a:xfrm>
            <a:off x="457200" y="1828800"/>
            <a:ext cx="548640" cy="54864"/>
          </a:xfrm>
          <a:prstGeom prst="rect">
            <a:avLst/>
          </a:prstGeom>
          <a:solidFill>
            <a:srgbClr val="6D2E46"/>
          </a:solidFill>
          <a:ln/>
        </p:spPr>
      </p:sp>
      <p:sp>
        <p:nvSpPr>
          <p:cNvPr id="6" name="Shape 4"/>
          <p:cNvSpPr/>
          <p:nvPr/>
        </p:nvSpPr>
        <p:spPr>
          <a:xfrm>
            <a:off x="457200" y="2194560"/>
            <a:ext cx="5394960" cy="3383280"/>
          </a:xfrm>
          <a:prstGeom prst="roundRect">
            <a:avLst>
              <a:gd name="adj" fmla="val 4054"/>
            </a:avLst>
          </a:prstGeom>
          <a:solidFill>
            <a:srgbClr val="6D2E46"/>
          </a:solidFill>
          <a:ln w="12700">
            <a:solidFill>
              <a:srgbClr val="6D2E46"/>
            </a:solidFill>
            <a:prstDash val="solid"/>
          </a:ln>
        </p:spPr>
      </p:sp>
      <p:sp>
        <p:nvSpPr>
          <p:cNvPr id="7" name="Text 5"/>
          <p:cNvSpPr/>
          <p:nvPr/>
        </p:nvSpPr>
        <p:spPr>
          <a:xfrm>
            <a:off x="731520" y="2331720"/>
            <a:ext cx="4937760" cy="457200"/>
          </a:xfrm>
          <a:prstGeom prst="rect">
            <a:avLst/>
          </a:prstGeom>
          <a:noFill/>
          <a:ln/>
        </p:spPr>
        <p:txBody>
          <a:bodyPr wrap="square" rtlCol="0" anchor="ctr"/>
          <a:lstStyle/>
          <a:p>
            <a:pPr marL="0" indent="0">
              <a:buNone/>
            </a:pPr>
            <a:r>
              <a:rPr lang="en-US" sz="2200" b="1" dirty="0">
                <a:solidFill>
                  <a:srgbClr val="FCF6F5"/>
                </a:solidFill>
                <a:latin typeface="Georgia" pitchFamily="34" charset="0"/>
                <a:ea typeface="Georgia" pitchFamily="34" charset="-122"/>
                <a:cs typeface="Georgia" pitchFamily="34" charset="-120"/>
              </a:rPr>
              <a:t>Conclusion</a:t>
            </a:r>
            <a:endParaRPr lang="en-US" sz="2200" dirty="0"/>
          </a:p>
        </p:txBody>
      </p:sp>
      <p:sp>
        <p:nvSpPr>
          <p:cNvPr id="8" name="Shape 6"/>
          <p:cNvSpPr/>
          <p:nvPr/>
        </p:nvSpPr>
        <p:spPr>
          <a:xfrm>
            <a:off x="731520" y="2834640"/>
            <a:ext cx="457200" cy="45720"/>
          </a:xfrm>
          <a:prstGeom prst="rect">
            <a:avLst/>
          </a:prstGeom>
          <a:solidFill>
            <a:srgbClr val="ECE2D0"/>
          </a:solidFill>
          <a:ln/>
        </p:spPr>
      </p:sp>
      <p:sp>
        <p:nvSpPr>
          <p:cNvPr id="9" name="Text 7"/>
          <p:cNvSpPr/>
          <p:nvPr/>
        </p:nvSpPr>
        <p:spPr>
          <a:xfrm>
            <a:off x="731520" y="3017520"/>
            <a:ext cx="4937760" cy="2468880"/>
          </a:xfrm>
          <a:prstGeom prst="rect">
            <a:avLst/>
          </a:prstGeom>
          <a:noFill/>
          <a:ln/>
        </p:spPr>
        <p:txBody>
          <a:bodyPr wrap="square" rtlCol="0" anchor="ctr"/>
          <a:lstStyle/>
          <a:p>
            <a:pPr marL="0" indent="0">
              <a:spcAft>
                <a:spcPts val="600"/>
              </a:spcAft>
              <a:buNone/>
            </a:pPr>
            <a:r>
              <a:rPr lang="en-US" sz="2000" dirty="0">
                <a:solidFill>
                  <a:srgbClr val="FCF6F5"/>
                </a:solidFill>
                <a:latin typeface="Calibri" pitchFamily="34" charset="0"/>
                <a:ea typeface="Calibri" pitchFamily="34" charset="-122"/>
                <a:cs typeface="Calibri" pitchFamily="34" charset="-120"/>
              </a:rPr>
              <a:t>The Bakery Website successfully provides an online platform for customers to purchase bakery products conveniently. It reduces manual work, improves order management, and offers a user-friendly shopping experience for both customers and bakery owners.</a:t>
            </a:r>
            <a:endParaRPr lang="en-US" sz="2000" dirty="0"/>
          </a:p>
        </p:txBody>
      </p:sp>
      <p:sp>
        <p:nvSpPr>
          <p:cNvPr id="10" name="Shape 8"/>
          <p:cNvSpPr/>
          <p:nvPr/>
        </p:nvSpPr>
        <p:spPr>
          <a:xfrm>
            <a:off x="6309360" y="1600200"/>
            <a:ext cx="5394960" cy="3977640"/>
          </a:xfrm>
          <a:prstGeom prst="roundRect">
            <a:avLst>
              <a:gd name="adj" fmla="val 4054"/>
            </a:avLst>
          </a:prstGeom>
          <a:solidFill>
            <a:srgbClr val="FFFFFF"/>
          </a:solidFill>
          <a:ln w="12700">
            <a:solidFill>
              <a:srgbClr val="ECE2D0"/>
            </a:solidFill>
            <a:prstDash val="solid"/>
          </a:ln>
        </p:spPr>
      </p:sp>
      <p:sp>
        <p:nvSpPr>
          <p:cNvPr id="11" name="Text 9"/>
          <p:cNvSpPr/>
          <p:nvPr/>
        </p:nvSpPr>
        <p:spPr>
          <a:xfrm>
            <a:off x="6492240" y="1883664"/>
            <a:ext cx="4937760" cy="457200"/>
          </a:xfrm>
          <a:prstGeom prst="rect">
            <a:avLst/>
          </a:prstGeom>
          <a:noFill/>
          <a:ln/>
        </p:spPr>
        <p:txBody>
          <a:bodyPr wrap="square" rtlCol="0" anchor="ctr"/>
          <a:lstStyle/>
          <a:p>
            <a:pPr marL="0" indent="0">
              <a:buNone/>
            </a:pPr>
            <a:r>
              <a:rPr lang="en-US" sz="2800" b="1" dirty="0">
                <a:solidFill>
                  <a:srgbClr val="6D2E46"/>
                </a:solidFill>
                <a:latin typeface="Georgia" pitchFamily="34" charset="0"/>
                <a:ea typeface="Georgia" pitchFamily="34" charset="-122"/>
                <a:cs typeface="Georgia" pitchFamily="34" charset="-120"/>
              </a:rPr>
              <a:t>Future Enhancements</a:t>
            </a:r>
            <a:endParaRPr lang="en-US" sz="2800" dirty="0"/>
          </a:p>
        </p:txBody>
      </p:sp>
      <p:sp>
        <p:nvSpPr>
          <p:cNvPr id="12" name="Shape 10"/>
          <p:cNvSpPr/>
          <p:nvPr/>
        </p:nvSpPr>
        <p:spPr>
          <a:xfrm>
            <a:off x="6583680" y="2331720"/>
            <a:ext cx="457200" cy="45720"/>
          </a:xfrm>
          <a:prstGeom prst="rect">
            <a:avLst/>
          </a:prstGeom>
          <a:solidFill>
            <a:srgbClr val="A26769"/>
          </a:solidFill>
          <a:ln/>
        </p:spPr>
      </p:sp>
      <p:sp>
        <p:nvSpPr>
          <p:cNvPr id="13" name="Text 11"/>
          <p:cNvSpPr/>
          <p:nvPr/>
        </p:nvSpPr>
        <p:spPr>
          <a:xfrm>
            <a:off x="6583680" y="2651760"/>
            <a:ext cx="4846320" cy="2468880"/>
          </a:xfrm>
          <a:prstGeom prst="rect">
            <a:avLst/>
          </a:prstGeom>
          <a:noFill/>
          <a:ln/>
        </p:spPr>
        <p:txBody>
          <a:bodyPr wrap="square" rtlCol="0" anchor="ctr"/>
          <a:lstStyle/>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Online Payment Gateway (Razorpay / Stripe)</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Live Order Tracking</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AI Product Recommendation</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Customer Reviews &amp; Ratings</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Discount Coupons</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Email &amp; SMS Notifications</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Admin Dashboard Analytics</a:t>
            </a:r>
            <a:endParaRPr lang="en-US" dirty="0"/>
          </a:p>
          <a:p>
            <a:pPr marL="342900" indent="-342900">
              <a:spcAft>
                <a:spcPts val="500"/>
              </a:spcAft>
              <a:buSzPct val="100000"/>
              <a:buChar char="●"/>
            </a:pPr>
            <a:r>
              <a:rPr lang="en-US" dirty="0">
                <a:solidFill>
                  <a:srgbClr val="2B1B1F"/>
                </a:solidFill>
                <a:latin typeface="Calibri" pitchFamily="34" charset="0"/>
                <a:ea typeface="Calibri" pitchFamily="34" charset="-122"/>
                <a:cs typeface="Calibri" pitchFamily="34" charset="-120"/>
              </a:rPr>
              <a:t>Mobile Application</a:t>
            </a:r>
            <a:endParaRPr lang="en-US" dirty="0"/>
          </a:p>
        </p:txBody>
      </p:sp>
      <p:pic>
        <p:nvPicPr>
          <p:cNvPr id="14" name="Image 0" descr="preencoded.png"/>
          <p:cNvPicPr>
            <a:picLocks noChangeAspect="1"/>
          </p:cNvPicPr>
          <p:nvPr/>
        </p:nvPicPr>
        <p:blipFill>
          <a:blip r:embed="rId3"/>
          <a:srcRect/>
          <a:stretch/>
        </p:blipFill>
        <p:spPr>
          <a:xfrm>
            <a:off x="1051560" y="5715000"/>
            <a:ext cx="640080" cy="640080"/>
          </a:xfrm>
          <a:prstGeom prst="ellipse">
            <a:avLst/>
          </a:prstGeom>
        </p:spPr>
      </p:pic>
      <p:pic>
        <p:nvPicPr>
          <p:cNvPr id="15" name="Image 1" descr="preencoded.png"/>
          <p:cNvPicPr>
            <a:picLocks noChangeAspect="1"/>
          </p:cNvPicPr>
          <p:nvPr/>
        </p:nvPicPr>
        <p:blipFill>
          <a:blip r:embed="rId4"/>
          <a:srcRect/>
          <a:stretch/>
        </p:blipFill>
        <p:spPr>
          <a:xfrm>
            <a:off x="2743200" y="5715000"/>
            <a:ext cx="640080" cy="640080"/>
          </a:xfrm>
          <a:prstGeom prst="ellipse">
            <a:avLst/>
          </a:prstGeom>
        </p:spPr>
      </p:pic>
      <p:pic>
        <p:nvPicPr>
          <p:cNvPr id="16" name="Image 2" descr="preencoded.png"/>
          <p:cNvPicPr>
            <a:picLocks noChangeAspect="1"/>
          </p:cNvPicPr>
          <p:nvPr/>
        </p:nvPicPr>
        <p:blipFill>
          <a:blip r:embed="rId5"/>
          <a:srcRect/>
          <a:stretch/>
        </p:blipFill>
        <p:spPr>
          <a:xfrm>
            <a:off x="4434840" y="5715000"/>
            <a:ext cx="640080" cy="640080"/>
          </a:xfrm>
          <a:prstGeom prst="ellipse">
            <a:avLst/>
          </a:prstGeom>
        </p:spPr>
      </p:pic>
      <p:pic>
        <p:nvPicPr>
          <p:cNvPr id="17" name="Image 3" descr="preencoded.png"/>
          <p:cNvPicPr>
            <a:picLocks noChangeAspect="1"/>
          </p:cNvPicPr>
          <p:nvPr/>
        </p:nvPicPr>
        <p:blipFill>
          <a:blip r:embed="rId6"/>
          <a:srcRect/>
          <a:stretch/>
        </p:blipFill>
        <p:spPr>
          <a:xfrm>
            <a:off x="6126480" y="5715000"/>
            <a:ext cx="640080" cy="640080"/>
          </a:xfrm>
          <a:prstGeom prst="ellipse">
            <a:avLst/>
          </a:prstGeom>
        </p:spPr>
      </p:pic>
      <p:pic>
        <p:nvPicPr>
          <p:cNvPr id="18" name="Image 4" descr="preencoded.png"/>
          <p:cNvPicPr>
            <a:picLocks noChangeAspect="1"/>
          </p:cNvPicPr>
          <p:nvPr/>
        </p:nvPicPr>
        <p:blipFill>
          <a:blip r:embed="rId7"/>
          <a:srcRect/>
          <a:stretch/>
        </p:blipFill>
        <p:spPr>
          <a:xfrm>
            <a:off x="7818120" y="5715000"/>
            <a:ext cx="640080" cy="640080"/>
          </a:xfrm>
          <a:prstGeom prst="ellipse">
            <a:avLst/>
          </a:prstGeom>
        </p:spPr>
      </p:pic>
      <p:pic>
        <p:nvPicPr>
          <p:cNvPr id="19" name="Image 5" descr="preencoded.png"/>
          <p:cNvPicPr>
            <a:picLocks noChangeAspect="1"/>
          </p:cNvPicPr>
          <p:nvPr/>
        </p:nvPicPr>
        <p:blipFill>
          <a:blip r:embed="rId8"/>
          <a:srcRect/>
          <a:stretch/>
        </p:blipFill>
        <p:spPr>
          <a:xfrm>
            <a:off x="9509760" y="5715000"/>
            <a:ext cx="640080" cy="640080"/>
          </a:xfrm>
          <a:prstGeom prst="ellipse">
            <a:avLst/>
          </a:prstGeom>
        </p:spPr>
      </p:pic>
      <p:sp>
        <p:nvSpPr>
          <p:cNvPr id="20" name="Text 12"/>
          <p:cNvSpPr/>
          <p:nvPr/>
        </p:nvSpPr>
        <p:spPr>
          <a:xfrm>
            <a:off x="457200" y="6446520"/>
            <a:ext cx="7315200" cy="274320"/>
          </a:xfrm>
          <a:prstGeom prst="rect">
            <a:avLst/>
          </a:prstGeom>
          <a:noFill/>
          <a:ln/>
        </p:spPr>
        <p:txBody>
          <a:bodyPr wrap="square" rtlCol="0" anchor="ctr"/>
          <a:lstStyle/>
          <a:p>
            <a:pPr marL="0" indent="0">
              <a:buNone/>
            </a:pPr>
            <a:r>
              <a:rPr lang="en-US" sz="1100" dirty="0">
                <a:solidFill>
                  <a:srgbClr val="6B5B5E"/>
                </a:solidFill>
                <a:latin typeface="Calibri" pitchFamily="34" charset="0"/>
                <a:ea typeface="Calibri" pitchFamily="34" charset="-122"/>
                <a:cs typeface="Calibri" pitchFamily="34" charset="-120"/>
              </a:rPr>
              <a:t>Bakery Website  •  Mini Project</a:t>
            </a:r>
            <a:endParaRPr lang="en-US" sz="1100" dirty="0"/>
          </a:p>
        </p:txBody>
      </p:sp>
      <p:sp>
        <p:nvSpPr>
          <p:cNvPr id="21" name="Text 13"/>
          <p:cNvSpPr/>
          <p:nvPr/>
        </p:nvSpPr>
        <p:spPr>
          <a:xfrm>
            <a:off x="10515600" y="6446520"/>
            <a:ext cx="1188720" cy="274320"/>
          </a:xfrm>
          <a:prstGeom prst="rect">
            <a:avLst/>
          </a:prstGeom>
          <a:noFill/>
          <a:ln/>
        </p:spPr>
        <p:txBody>
          <a:bodyPr wrap="square" rtlCol="0" anchor="ctr"/>
          <a:lstStyle/>
          <a:p>
            <a:pPr marL="0" indent="0" algn="r">
              <a:buNone/>
            </a:pPr>
            <a:r>
              <a:rPr lang="en-US" sz="1100" dirty="0">
                <a:solidFill>
                  <a:srgbClr val="6B5B5E"/>
                </a:solidFill>
                <a:latin typeface="Calibri" pitchFamily="34" charset="0"/>
                <a:ea typeface="Calibri" pitchFamily="34" charset="-122"/>
                <a:cs typeface="Calibri" pitchFamily="34" charset="-120"/>
              </a:rPr>
              <a:t>8 / 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498</Words>
  <Application>Microsoft Office PowerPoint</Application>
  <PresentationFormat>Widescreen</PresentationFormat>
  <Paragraphs>156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Bakery Website - Mini Project</dc:title>
  <dc:subject>PptxGenJS Presentation</dc:subject>
  <dc:creator>PptxGenJS</dc:creator>
  <cp:lastModifiedBy>Roshni A</cp:lastModifiedBy>
  <cp:revision>2</cp:revision>
  <dcterms:created xsi:type="dcterms:W3CDTF">2026-07-24T06:49:41Z</dcterms:created>
  <dcterms:modified xsi:type="dcterms:W3CDTF">2026-07-24T08:38:33Z</dcterms:modified>
</cp:coreProperties>
</file>