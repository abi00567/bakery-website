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3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929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E7D46"/>
          </a:solidFill>
          <a:ln/>
        </p:spPr>
      </p:sp>
      <p:sp>
        <p:nvSpPr>
          <p:cNvPr id="3" name="Shape 1"/>
          <p:cNvSpPr/>
          <p:nvPr/>
        </p:nvSpPr>
        <p:spPr>
          <a:xfrm>
            <a:off x="320040" y="0"/>
            <a:ext cx="137160" cy="6858000"/>
          </a:xfrm>
          <a:prstGeom prst="rect">
            <a:avLst/>
          </a:prstGeom>
          <a:solidFill>
            <a:srgbClr val="F57C1F"/>
          </a:solidFill>
          <a:ln/>
        </p:spPr>
      </p:sp>
      <p:sp>
        <p:nvSpPr>
          <p:cNvPr id="4" name="Shape 2"/>
          <p:cNvSpPr/>
          <p:nvPr/>
        </p:nvSpPr>
        <p:spPr>
          <a:xfrm>
            <a:off x="9601200" y="-1371600"/>
            <a:ext cx="4572000" cy="4572000"/>
          </a:xfrm>
          <a:prstGeom prst="ellipse">
            <a:avLst/>
          </a:prstGeom>
          <a:solidFill>
            <a:srgbClr val="E8F5E9"/>
          </a:solidFill>
          <a:ln/>
        </p:spPr>
      </p:sp>
      <p:sp>
        <p:nvSpPr>
          <p:cNvPr id="5" name="Shape 3"/>
          <p:cNvSpPr/>
          <p:nvPr/>
        </p:nvSpPr>
        <p:spPr>
          <a:xfrm>
            <a:off x="10515600" y="4114800"/>
            <a:ext cx="3200400" cy="3200400"/>
          </a:xfrm>
          <a:prstGeom prst="ellipse">
            <a:avLst/>
          </a:prstGeom>
          <a:solidFill>
            <a:srgbClr val="FFF3E0"/>
          </a:solidFill>
          <a:ln/>
        </p:spPr>
      </p:sp>
      <p:sp>
        <p:nvSpPr>
          <p:cNvPr id="6" name="Shape 4"/>
          <p:cNvSpPr/>
          <p:nvPr/>
        </p:nvSpPr>
        <p:spPr>
          <a:xfrm>
            <a:off x="8961120" y="2011680"/>
            <a:ext cx="1645920" cy="1645920"/>
          </a:xfrm>
          <a:prstGeom prst="ellipse">
            <a:avLst/>
          </a:prstGeom>
          <a:solidFill>
            <a:srgbClr val="2E7D46"/>
          </a:solidFill>
          <a:ln/>
        </p:spPr>
      </p:sp>
      <p:sp>
        <p:nvSpPr>
          <p:cNvPr id="7" name="Text 5"/>
          <p:cNvSpPr/>
          <p:nvPr/>
        </p:nvSpPr>
        <p:spPr>
          <a:xfrm>
            <a:off x="8961120" y="2194560"/>
            <a:ext cx="1645920" cy="1280160"/>
          </a:xfrm>
          <a:prstGeom prst="rect">
            <a:avLst/>
          </a:prstGeom>
          <a:noFill/>
          <a:ln/>
        </p:spPr>
        <p:txBody>
          <a:bodyPr wrap="square" rtlCol="0" anchor="ctr"/>
          <a:lstStyle/>
          <a:p>
            <a:pPr marL="0" indent="0" algn="ctr">
              <a:buNone/>
            </a:pPr>
            <a:r>
              <a:rPr lang="en-US" sz="5600" b="1" dirty="0">
                <a:solidFill>
                  <a:srgbClr val="FFFFFF"/>
                </a:solidFill>
                <a:latin typeface="Poppins" pitchFamily="34" charset="0"/>
                <a:ea typeface="Poppins" pitchFamily="34" charset="-122"/>
                <a:cs typeface="Poppins" pitchFamily="34" charset="-120"/>
              </a:rPr>
              <a:t>AI</a:t>
            </a:r>
            <a:endParaRPr lang="en-US" sz="5600" dirty="0"/>
          </a:p>
        </p:txBody>
      </p:sp>
      <p:sp>
        <p:nvSpPr>
          <p:cNvPr id="8" name="Shape 6"/>
          <p:cNvSpPr/>
          <p:nvPr/>
        </p:nvSpPr>
        <p:spPr>
          <a:xfrm>
            <a:off x="10241280" y="3017520"/>
            <a:ext cx="1097280" cy="1097280"/>
          </a:xfrm>
          <a:prstGeom prst="ellipse">
            <a:avLst/>
          </a:prstGeom>
          <a:solidFill>
            <a:srgbClr val="F57C1F"/>
          </a:solidFill>
          <a:ln/>
        </p:spPr>
      </p:sp>
      <p:sp>
        <p:nvSpPr>
          <p:cNvPr id="9" name="Text 7"/>
          <p:cNvSpPr/>
          <p:nvPr/>
        </p:nvSpPr>
        <p:spPr>
          <a:xfrm>
            <a:off x="10241280" y="3017520"/>
            <a:ext cx="1097280" cy="1097280"/>
          </a:xfrm>
          <a:prstGeom prst="rect">
            <a:avLst/>
          </a:prstGeom>
          <a:noFill/>
          <a:ln/>
        </p:spPr>
        <p:txBody>
          <a:bodyPr wrap="square" rtlCol="0" anchor="ctr"/>
          <a:lstStyle/>
          <a:p>
            <a:pPr marL="0" indent="0" algn="ctr">
              <a:buNone/>
            </a:pPr>
            <a:r>
              <a:rPr lang="en-US" sz="4400" dirty="0">
                <a:solidFill>
                  <a:srgbClr val="000000"/>
                </a:solidFill>
              </a:rPr>
              <a:t>🥬</a:t>
            </a:r>
            <a:endParaRPr lang="en-US" sz="4400" dirty="0"/>
          </a:p>
        </p:txBody>
      </p:sp>
      <p:sp>
        <p:nvSpPr>
          <p:cNvPr id="10" name="Text 8"/>
          <p:cNvSpPr/>
          <p:nvPr/>
        </p:nvSpPr>
        <p:spPr>
          <a:xfrm>
            <a:off x="914400" y="822960"/>
            <a:ext cx="8229600" cy="365760"/>
          </a:xfrm>
          <a:prstGeom prst="rect">
            <a:avLst/>
          </a:prstGeom>
          <a:noFill/>
          <a:ln/>
        </p:spPr>
        <p:txBody>
          <a:bodyPr wrap="square" rtlCol="0" anchor="ctr"/>
          <a:lstStyle/>
          <a:p>
            <a:pPr marL="0" indent="0">
              <a:buNone/>
            </a:pPr>
            <a:r>
              <a:rPr lang="en-US" sz="1600" b="1" kern="0" spc="600" dirty="0">
                <a:solidFill>
                  <a:srgbClr val="F57C1F"/>
                </a:solidFill>
                <a:latin typeface="Poppins" pitchFamily="34" charset="0"/>
                <a:ea typeface="Poppins" pitchFamily="34" charset="-122"/>
                <a:cs typeface="Poppins" pitchFamily="34" charset="-120"/>
              </a:rPr>
              <a:t>MINI PROJECT  •  2026–2027</a:t>
            </a:r>
            <a:endParaRPr lang="en-US" sz="1600" dirty="0"/>
          </a:p>
        </p:txBody>
      </p:sp>
      <p:sp>
        <p:nvSpPr>
          <p:cNvPr id="11" name="Text 9"/>
          <p:cNvSpPr/>
          <p:nvPr/>
        </p:nvSpPr>
        <p:spPr>
          <a:xfrm>
            <a:off x="914400" y="1463040"/>
            <a:ext cx="8686800" cy="1005840"/>
          </a:xfrm>
          <a:prstGeom prst="rect">
            <a:avLst/>
          </a:prstGeom>
          <a:noFill/>
          <a:ln/>
        </p:spPr>
        <p:txBody>
          <a:bodyPr wrap="square" rtlCol="0" anchor="ctr"/>
          <a:lstStyle/>
          <a:p>
            <a:pPr marL="0" indent="0">
              <a:buNone/>
            </a:pPr>
            <a:r>
              <a:rPr lang="en-US" sz="5400" b="1" dirty="0">
                <a:solidFill>
                  <a:srgbClr val="1F2937"/>
                </a:solidFill>
                <a:latin typeface="Poppins" pitchFamily="34" charset="0"/>
                <a:ea typeface="Poppins" pitchFamily="34" charset="-122"/>
                <a:cs typeface="Poppins" pitchFamily="34" charset="-120"/>
              </a:rPr>
              <a:t>AI Smart Pantry &amp;</a:t>
            </a:r>
            <a:endParaRPr lang="en-US" sz="5400" dirty="0"/>
          </a:p>
        </p:txBody>
      </p:sp>
      <p:sp>
        <p:nvSpPr>
          <p:cNvPr id="12" name="Text 10"/>
          <p:cNvSpPr/>
          <p:nvPr/>
        </p:nvSpPr>
        <p:spPr>
          <a:xfrm>
            <a:off x="914400" y="2286000"/>
            <a:ext cx="8686800" cy="1005840"/>
          </a:xfrm>
          <a:prstGeom prst="rect">
            <a:avLst/>
          </a:prstGeom>
          <a:noFill/>
          <a:ln/>
        </p:spPr>
        <p:txBody>
          <a:bodyPr wrap="square" rtlCol="0" anchor="ctr"/>
          <a:lstStyle/>
          <a:p>
            <a:pPr marL="0" indent="0">
              <a:buNone/>
            </a:pPr>
            <a:r>
              <a:rPr lang="en-US" sz="5400" b="1" dirty="0">
                <a:solidFill>
                  <a:srgbClr val="2E7D46"/>
                </a:solidFill>
                <a:latin typeface="Poppins" pitchFamily="34" charset="0"/>
                <a:ea typeface="Poppins" pitchFamily="34" charset="-122"/>
                <a:cs typeface="Poppins" pitchFamily="34" charset="-120"/>
              </a:rPr>
              <a:t>Food Waste Manager</a:t>
            </a:r>
            <a:endParaRPr lang="en-US" sz="5400" dirty="0"/>
          </a:p>
        </p:txBody>
      </p:sp>
      <p:sp>
        <p:nvSpPr>
          <p:cNvPr id="13" name="Shape 11"/>
          <p:cNvSpPr/>
          <p:nvPr/>
        </p:nvSpPr>
        <p:spPr>
          <a:xfrm>
            <a:off x="914400" y="3337560"/>
            <a:ext cx="1280160" cy="91440"/>
          </a:xfrm>
          <a:prstGeom prst="rect">
            <a:avLst/>
          </a:prstGeom>
          <a:solidFill>
            <a:srgbClr val="F57C1F"/>
          </a:solidFill>
          <a:ln/>
        </p:spPr>
      </p:sp>
      <p:sp>
        <p:nvSpPr>
          <p:cNvPr id="14" name="Text 12"/>
          <p:cNvSpPr/>
          <p:nvPr/>
        </p:nvSpPr>
        <p:spPr>
          <a:xfrm>
            <a:off x="914400" y="3520440"/>
            <a:ext cx="8229600" cy="457200"/>
          </a:xfrm>
          <a:prstGeom prst="rect">
            <a:avLst/>
          </a:prstGeom>
          <a:noFill/>
          <a:ln/>
        </p:spPr>
        <p:txBody>
          <a:bodyPr wrap="square" rtlCol="0" anchor="ctr"/>
          <a:lstStyle/>
          <a:p>
            <a:pPr marL="0" indent="0">
              <a:buNone/>
            </a:pPr>
            <a:r>
              <a:rPr lang="en-US" sz="2400" b="1" dirty="0">
                <a:solidFill>
                  <a:srgbClr val="6B7280"/>
                </a:solidFill>
                <a:latin typeface="Poppins" pitchFamily="34" charset="0"/>
                <a:ea typeface="Poppins" pitchFamily="34" charset="-122"/>
                <a:cs typeface="Poppins" pitchFamily="34" charset="-120"/>
              </a:rPr>
              <a:t>Full Stack AI-Based Web Application</a:t>
            </a:r>
            <a:endParaRPr lang="en-US" sz="2400" dirty="0"/>
          </a:p>
        </p:txBody>
      </p:sp>
      <p:sp>
        <p:nvSpPr>
          <p:cNvPr id="15" name="Text 13"/>
          <p:cNvSpPr/>
          <p:nvPr/>
        </p:nvSpPr>
        <p:spPr>
          <a:xfrm>
            <a:off x="914400" y="4297680"/>
            <a:ext cx="4572000" cy="274320"/>
          </a:xfrm>
          <a:prstGeom prst="rect">
            <a:avLst/>
          </a:prstGeom>
          <a:noFill/>
          <a:ln/>
        </p:spPr>
        <p:txBody>
          <a:bodyPr wrap="square" rtlCol="0" anchor="ctr"/>
          <a:lstStyle/>
          <a:p>
            <a:pPr marL="0" indent="0">
              <a:buNone/>
            </a:pPr>
            <a:r>
              <a:rPr lang="en-US" sz="1400" b="1" kern="0" spc="400" dirty="0">
                <a:solidFill>
                  <a:srgbClr val="F57C1F"/>
                </a:solidFill>
                <a:latin typeface="Poppins" pitchFamily="34" charset="0"/>
                <a:ea typeface="Poppins" pitchFamily="34" charset="-122"/>
                <a:cs typeface="Poppins" pitchFamily="34" charset="-120"/>
              </a:rPr>
              <a:t>DEVELOPED BY</a:t>
            </a:r>
            <a:endParaRPr lang="en-US" sz="1400" dirty="0"/>
          </a:p>
        </p:txBody>
      </p:sp>
      <p:sp>
        <p:nvSpPr>
          <p:cNvPr id="16" name="Shape 14"/>
          <p:cNvSpPr/>
          <p:nvPr/>
        </p:nvSpPr>
        <p:spPr>
          <a:xfrm>
            <a:off x="914400" y="4617720"/>
            <a:ext cx="1828800" cy="640080"/>
          </a:xfrm>
          <a:prstGeom prst="roundRect">
            <a:avLst>
              <a:gd name="adj" fmla="val 14286"/>
            </a:avLst>
          </a:prstGeom>
          <a:solidFill>
            <a:srgbClr val="E8F5E9"/>
          </a:solidFill>
          <a:ln w="19050">
            <a:solidFill>
              <a:srgbClr val="2E7D46"/>
            </a:solidFill>
            <a:prstDash val="solid"/>
          </a:ln>
        </p:spPr>
      </p:sp>
      <p:sp>
        <p:nvSpPr>
          <p:cNvPr id="17" name="Text 15"/>
          <p:cNvSpPr/>
          <p:nvPr/>
        </p:nvSpPr>
        <p:spPr>
          <a:xfrm>
            <a:off x="914400" y="4617720"/>
            <a:ext cx="1828800" cy="640080"/>
          </a:xfrm>
          <a:prstGeom prst="rect">
            <a:avLst/>
          </a:prstGeom>
          <a:noFill/>
          <a:ln/>
        </p:spPr>
        <p:txBody>
          <a:bodyPr wrap="square" rtlCol="0" anchor="ctr"/>
          <a:lstStyle/>
          <a:p>
            <a:pPr marL="0" indent="0" algn="ctr">
              <a:buNone/>
            </a:pPr>
            <a:r>
              <a:rPr lang="en-US" sz="2000" b="1" dirty="0">
                <a:solidFill>
                  <a:srgbClr val="1B5E20"/>
                </a:solidFill>
                <a:latin typeface="Poppins" pitchFamily="34" charset="0"/>
                <a:ea typeface="Poppins" pitchFamily="34" charset="-122"/>
                <a:cs typeface="Poppins" pitchFamily="34" charset="-120"/>
              </a:rPr>
              <a:t>Abi. T</a:t>
            </a:r>
            <a:endParaRPr lang="en-US" sz="2000" dirty="0"/>
          </a:p>
        </p:txBody>
      </p:sp>
      <p:sp>
        <p:nvSpPr>
          <p:cNvPr id="18" name="Shape 16"/>
          <p:cNvSpPr/>
          <p:nvPr/>
        </p:nvSpPr>
        <p:spPr>
          <a:xfrm>
            <a:off x="2926080" y="4617720"/>
            <a:ext cx="1828800" cy="640080"/>
          </a:xfrm>
          <a:prstGeom prst="roundRect">
            <a:avLst>
              <a:gd name="adj" fmla="val 14286"/>
            </a:avLst>
          </a:prstGeom>
          <a:solidFill>
            <a:srgbClr val="E8F5E9"/>
          </a:solidFill>
          <a:ln w="19050">
            <a:solidFill>
              <a:srgbClr val="2E7D46"/>
            </a:solidFill>
            <a:prstDash val="solid"/>
          </a:ln>
        </p:spPr>
      </p:sp>
      <p:sp>
        <p:nvSpPr>
          <p:cNvPr id="19" name="Text 17"/>
          <p:cNvSpPr/>
          <p:nvPr/>
        </p:nvSpPr>
        <p:spPr>
          <a:xfrm>
            <a:off x="2926080" y="4617720"/>
            <a:ext cx="1828800" cy="640080"/>
          </a:xfrm>
          <a:prstGeom prst="rect">
            <a:avLst/>
          </a:prstGeom>
          <a:noFill/>
          <a:ln/>
        </p:spPr>
        <p:txBody>
          <a:bodyPr wrap="square" rtlCol="0" anchor="ctr"/>
          <a:lstStyle/>
          <a:p>
            <a:pPr marL="0" indent="0" algn="ctr">
              <a:buNone/>
            </a:pPr>
            <a:r>
              <a:rPr lang="en-US" sz="2000" b="1" dirty="0">
                <a:solidFill>
                  <a:srgbClr val="1B5E20"/>
                </a:solidFill>
                <a:latin typeface="Poppins" pitchFamily="34" charset="0"/>
                <a:ea typeface="Poppins" pitchFamily="34" charset="-122"/>
                <a:cs typeface="Poppins" pitchFamily="34" charset="-120"/>
              </a:rPr>
              <a:t>Adithya. C</a:t>
            </a:r>
            <a:endParaRPr lang="en-US" sz="2000" dirty="0"/>
          </a:p>
        </p:txBody>
      </p:sp>
      <p:sp>
        <p:nvSpPr>
          <p:cNvPr id="20" name="Shape 18"/>
          <p:cNvSpPr/>
          <p:nvPr/>
        </p:nvSpPr>
        <p:spPr>
          <a:xfrm>
            <a:off x="4937760" y="4617720"/>
            <a:ext cx="1828800" cy="640080"/>
          </a:xfrm>
          <a:prstGeom prst="roundRect">
            <a:avLst>
              <a:gd name="adj" fmla="val 14286"/>
            </a:avLst>
          </a:prstGeom>
          <a:solidFill>
            <a:srgbClr val="E8F5E9"/>
          </a:solidFill>
          <a:ln w="19050">
            <a:solidFill>
              <a:srgbClr val="2E7D46"/>
            </a:solidFill>
            <a:prstDash val="solid"/>
          </a:ln>
        </p:spPr>
      </p:sp>
      <p:sp>
        <p:nvSpPr>
          <p:cNvPr id="21" name="Text 19"/>
          <p:cNvSpPr/>
          <p:nvPr/>
        </p:nvSpPr>
        <p:spPr>
          <a:xfrm>
            <a:off x="4937760" y="4617720"/>
            <a:ext cx="1828800" cy="640080"/>
          </a:xfrm>
          <a:prstGeom prst="rect">
            <a:avLst/>
          </a:prstGeom>
          <a:noFill/>
          <a:ln/>
        </p:spPr>
        <p:txBody>
          <a:bodyPr wrap="square" rtlCol="0" anchor="ctr"/>
          <a:lstStyle/>
          <a:p>
            <a:pPr marL="0" indent="0" algn="ctr">
              <a:buNone/>
            </a:pPr>
            <a:r>
              <a:rPr lang="en-US" sz="2000" b="1" dirty="0">
                <a:solidFill>
                  <a:srgbClr val="1B5E20"/>
                </a:solidFill>
                <a:latin typeface="Poppins" pitchFamily="34" charset="0"/>
                <a:ea typeface="Poppins" pitchFamily="34" charset="-122"/>
                <a:cs typeface="Poppins" pitchFamily="34" charset="-120"/>
              </a:rPr>
              <a:t>Roshni. A</a:t>
            </a:r>
            <a:endParaRPr lang="en-US" sz="2000" dirty="0"/>
          </a:p>
        </p:txBody>
      </p:sp>
      <p:sp>
        <p:nvSpPr>
          <p:cNvPr id="22" name="Text 20"/>
          <p:cNvSpPr/>
          <p:nvPr/>
        </p:nvSpPr>
        <p:spPr>
          <a:xfrm>
            <a:off x="914400" y="5532120"/>
            <a:ext cx="9144000" cy="32004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Department of Computer Science and Business Systems</a:t>
            </a:r>
            <a:endParaRPr lang="en-US" sz="1600" dirty="0"/>
          </a:p>
        </p:txBody>
      </p:sp>
      <p:sp>
        <p:nvSpPr>
          <p:cNvPr id="23" name="Text 21"/>
          <p:cNvSpPr/>
          <p:nvPr/>
        </p:nvSpPr>
        <p:spPr>
          <a:xfrm>
            <a:off x="914400" y="5897880"/>
            <a:ext cx="9144000" cy="320040"/>
          </a:xfrm>
          <a:prstGeom prst="rect">
            <a:avLst/>
          </a:prstGeom>
          <a:noFill/>
          <a:ln/>
        </p:spPr>
        <p:txBody>
          <a:bodyPr wrap="square" rtlCol="0" anchor="ctr"/>
          <a:lstStyle/>
          <a:p>
            <a:pPr marL="0" indent="0">
              <a:buNone/>
            </a:pPr>
            <a:r>
              <a:rPr lang="en-US" sz="1400" b="1" dirty="0">
                <a:solidFill>
                  <a:srgbClr val="6B7280"/>
                </a:solidFill>
                <a:latin typeface="Poppins" pitchFamily="34" charset="0"/>
                <a:ea typeface="Poppins" pitchFamily="34" charset="-122"/>
                <a:cs typeface="Poppins" pitchFamily="34" charset="-120"/>
              </a:rPr>
              <a:t>Academic Year: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02  •  INTRODUCTION</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Introduction &amp; Problem Statement</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Shape 5"/>
          <p:cNvSpPr/>
          <p:nvPr/>
        </p:nvSpPr>
        <p:spPr>
          <a:xfrm>
            <a:off x="548640" y="1874520"/>
            <a:ext cx="6583680" cy="731520"/>
          </a:xfrm>
          <a:prstGeom prst="roundRect">
            <a:avLst>
              <a:gd name="adj" fmla="val 12500"/>
            </a:avLst>
          </a:prstGeom>
          <a:solidFill>
            <a:srgbClr val="F8FAFC"/>
          </a:solidFill>
          <a:ln w="12700">
            <a:solidFill>
              <a:srgbClr val="E8F5E9"/>
            </a:solidFill>
            <a:prstDash val="solid"/>
          </a:ln>
        </p:spPr>
      </p:sp>
      <p:sp>
        <p:nvSpPr>
          <p:cNvPr id="8" name="Shape 6"/>
          <p:cNvSpPr/>
          <p:nvPr/>
        </p:nvSpPr>
        <p:spPr>
          <a:xfrm>
            <a:off x="685800" y="1965960"/>
            <a:ext cx="548640" cy="548640"/>
          </a:xfrm>
          <a:prstGeom prst="ellipse">
            <a:avLst/>
          </a:prstGeom>
          <a:solidFill>
            <a:srgbClr val="2E7D46"/>
          </a:solidFill>
          <a:ln/>
        </p:spPr>
      </p:sp>
      <p:sp>
        <p:nvSpPr>
          <p:cNvPr id="9" name="Text 7"/>
          <p:cNvSpPr/>
          <p:nvPr/>
        </p:nvSpPr>
        <p:spPr>
          <a:xfrm>
            <a:off x="685800" y="196596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1371600" y="1874520"/>
            <a:ext cx="5669280" cy="73152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Food waste is a growing global challenge.</a:t>
            </a:r>
            <a:endParaRPr lang="en-US" sz="1800" dirty="0"/>
          </a:p>
        </p:txBody>
      </p:sp>
      <p:sp>
        <p:nvSpPr>
          <p:cNvPr id="11" name="Shape 9"/>
          <p:cNvSpPr/>
          <p:nvPr/>
        </p:nvSpPr>
        <p:spPr>
          <a:xfrm>
            <a:off x="548640" y="2743200"/>
            <a:ext cx="6583680" cy="731520"/>
          </a:xfrm>
          <a:prstGeom prst="roundRect">
            <a:avLst>
              <a:gd name="adj" fmla="val 12500"/>
            </a:avLst>
          </a:prstGeom>
          <a:solidFill>
            <a:srgbClr val="F8FAFC"/>
          </a:solidFill>
          <a:ln w="12700">
            <a:solidFill>
              <a:srgbClr val="E8F5E9"/>
            </a:solidFill>
            <a:prstDash val="solid"/>
          </a:ln>
        </p:spPr>
      </p:sp>
      <p:sp>
        <p:nvSpPr>
          <p:cNvPr id="12" name="Shape 10"/>
          <p:cNvSpPr/>
          <p:nvPr/>
        </p:nvSpPr>
        <p:spPr>
          <a:xfrm>
            <a:off x="685800" y="2834640"/>
            <a:ext cx="548640" cy="548640"/>
          </a:xfrm>
          <a:prstGeom prst="ellipse">
            <a:avLst/>
          </a:prstGeom>
          <a:solidFill>
            <a:srgbClr val="2E7D46"/>
          </a:solidFill>
          <a:ln/>
        </p:spPr>
      </p:sp>
      <p:sp>
        <p:nvSpPr>
          <p:cNvPr id="13" name="Text 11"/>
          <p:cNvSpPr/>
          <p:nvPr/>
        </p:nvSpPr>
        <p:spPr>
          <a:xfrm>
            <a:off x="685800" y="283464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371600" y="2743200"/>
            <a:ext cx="5669280" cy="73152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Households forget expiry dates and overbuy groceries.</a:t>
            </a:r>
            <a:endParaRPr lang="en-US" sz="1800" dirty="0"/>
          </a:p>
        </p:txBody>
      </p:sp>
      <p:sp>
        <p:nvSpPr>
          <p:cNvPr id="15" name="Shape 13"/>
          <p:cNvSpPr/>
          <p:nvPr/>
        </p:nvSpPr>
        <p:spPr>
          <a:xfrm>
            <a:off x="548640" y="3611880"/>
            <a:ext cx="6583680" cy="731520"/>
          </a:xfrm>
          <a:prstGeom prst="roundRect">
            <a:avLst>
              <a:gd name="adj" fmla="val 12500"/>
            </a:avLst>
          </a:prstGeom>
          <a:solidFill>
            <a:srgbClr val="F8FAFC"/>
          </a:solidFill>
          <a:ln w="12700">
            <a:solidFill>
              <a:srgbClr val="E8F5E9"/>
            </a:solidFill>
            <a:prstDash val="solid"/>
          </a:ln>
        </p:spPr>
      </p:sp>
      <p:sp>
        <p:nvSpPr>
          <p:cNvPr id="16" name="Shape 14"/>
          <p:cNvSpPr/>
          <p:nvPr/>
        </p:nvSpPr>
        <p:spPr>
          <a:xfrm>
            <a:off x="685800" y="3703320"/>
            <a:ext cx="548640" cy="548640"/>
          </a:xfrm>
          <a:prstGeom prst="ellipse">
            <a:avLst/>
          </a:prstGeom>
          <a:solidFill>
            <a:srgbClr val="2E7D46"/>
          </a:solidFill>
          <a:ln/>
        </p:spPr>
      </p:sp>
      <p:sp>
        <p:nvSpPr>
          <p:cNvPr id="17" name="Text 15"/>
          <p:cNvSpPr/>
          <p:nvPr/>
        </p:nvSpPr>
        <p:spPr>
          <a:xfrm>
            <a:off x="685800" y="370332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1371600" y="3611880"/>
            <a:ext cx="5669280" cy="73152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Manual pantry management leads to waste and expenses.</a:t>
            </a:r>
            <a:endParaRPr lang="en-US" sz="1800" dirty="0"/>
          </a:p>
        </p:txBody>
      </p:sp>
      <p:sp>
        <p:nvSpPr>
          <p:cNvPr id="19" name="Shape 17"/>
          <p:cNvSpPr/>
          <p:nvPr/>
        </p:nvSpPr>
        <p:spPr>
          <a:xfrm>
            <a:off x="548640" y="4480560"/>
            <a:ext cx="6583680" cy="731520"/>
          </a:xfrm>
          <a:prstGeom prst="roundRect">
            <a:avLst>
              <a:gd name="adj" fmla="val 12500"/>
            </a:avLst>
          </a:prstGeom>
          <a:solidFill>
            <a:srgbClr val="F8FAFC"/>
          </a:solidFill>
          <a:ln w="12700">
            <a:solidFill>
              <a:srgbClr val="E8F5E9"/>
            </a:solidFill>
            <a:prstDash val="solid"/>
          </a:ln>
        </p:spPr>
      </p:sp>
      <p:sp>
        <p:nvSpPr>
          <p:cNvPr id="20" name="Shape 18"/>
          <p:cNvSpPr/>
          <p:nvPr/>
        </p:nvSpPr>
        <p:spPr>
          <a:xfrm>
            <a:off x="685800" y="4572000"/>
            <a:ext cx="548640" cy="548640"/>
          </a:xfrm>
          <a:prstGeom prst="ellipse">
            <a:avLst/>
          </a:prstGeom>
          <a:solidFill>
            <a:srgbClr val="2E7D46"/>
          </a:solidFill>
          <a:ln/>
        </p:spPr>
      </p:sp>
      <p:sp>
        <p:nvSpPr>
          <p:cNvPr id="21" name="Text 19"/>
          <p:cNvSpPr/>
          <p:nvPr/>
        </p:nvSpPr>
        <p:spPr>
          <a:xfrm>
            <a:off x="685800" y="457200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1371600" y="4480560"/>
            <a:ext cx="5669280" cy="73152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AI can organize groceries and improve food management.</a:t>
            </a:r>
            <a:endParaRPr lang="en-US" sz="1800" dirty="0"/>
          </a:p>
        </p:txBody>
      </p:sp>
      <p:sp>
        <p:nvSpPr>
          <p:cNvPr id="23" name="Shape 21"/>
          <p:cNvSpPr/>
          <p:nvPr/>
        </p:nvSpPr>
        <p:spPr>
          <a:xfrm>
            <a:off x="7498080" y="1874520"/>
            <a:ext cx="4160520" cy="4434840"/>
          </a:xfrm>
          <a:prstGeom prst="roundRect">
            <a:avLst>
              <a:gd name="adj" fmla="val 3297"/>
            </a:avLst>
          </a:prstGeom>
          <a:solidFill>
            <a:srgbClr val="E8F5E9"/>
          </a:solidFill>
          <a:ln/>
        </p:spPr>
      </p:sp>
      <p:sp>
        <p:nvSpPr>
          <p:cNvPr id="24" name="Text 22"/>
          <p:cNvSpPr/>
          <p:nvPr/>
        </p:nvSpPr>
        <p:spPr>
          <a:xfrm>
            <a:off x="7498080" y="2011680"/>
            <a:ext cx="4160520" cy="365760"/>
          </a:xfrm>
          <a:prstGeom prst="rect">
            <a:avLst/>
          </a:prstGeom>
          <a:noFill/>
          <a:ln/>
        </p:spPr>
        <p:txBody>
          <a:bodyPr wrap="square" rtlCol="0" anchor="ctr"/>
          <a:lstStyle/>
          <a:p>
            <a:pPr marL="0" indent="0" algn="ctr">
              <a:buNone/>
            </a:pPr>
            <a:r>
              <a:rPr lang="en-US" sz="1400" b="1" kern="0" spc="400" dirty="0">
                <a:solidFill>
                  <a:srgbClr val="F57C1F"/>
                </a:solidFill>
                <a:latin typeface="Poppins" pitchFamily="34" charset="0"/>
                <a:ea typeface="Poppins" pitchFamily="34" charset="-122"/>
                <a:cs typeface="Poppins" pitchFamily="34" charset="-120"/>
              </a:rPr>
              <a:t>HOW IT WORKS</a:t>
            </a:r>
            <a:endParaRPr lang="en-US" sz="1400" dirty="0"/>
          </a:p>
        </p:txBody>
      </p:sp>
      <p:sp>
        <p:nvSpPr>
          <p:cNvPr id="25" name="Shape 23"/>
          <p:cNvSpPr/>
          <p:nvPr/>
        </p:nvSpPr>
        <p:spPr>
          <a:xfrm>
            <a:off x="7955280" y="2468880"/>
            <a:ext cx="3246120" cy="658368"/>
          </a:xfrm>
          <a:prstGeom prst="roundRect">
            <a:avLst>
              <a:gd name="adj" fmla="val 13889"/>
            </a:avLst>
          </a:prstGeom>
          <a:solidFill>
            <a:srgbClr val="FFFFFF"/>
          </a:solidFill>
          <a:ln w="25400">
            <a:solidFill>
              <a:srgbClr val="2E7D46"/>
            </a:solidFill>
            <a:prstDash val="solid"/>
          </a:ln>
        </p:spPr>
      </p:sp>
      <p:sp>
        <p:nvSpPr>
          <p:cNvPr id="26" name="Text 24"/>
          <p:cNvSpPr/>
          <p:nvPr/>
        </p:nvSpPr>
        <p:spPr>
          <a:xfrm>
            <a:off x="8092440" y="2468880"/>
            <a:ext cx="640080" cy="65836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7" name="Text 25"/>
          <p:cNvSpPr/>
          <p:nvPr/>
        </p:nvSpPr>
        <p:spPr>
          <a:xfrm>
            <a:off x="8732520" y="2468880"/>
            <a:ext cx="2377440" cy="658368"/>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User</a:t>
            </a:r>
            <a:endParaRPr lang="en-US" sz="1800" dirty="0"/>
          </a:p>
        </p:txBody>
      </p:sp>
      <p:sp>
        <p:nvSpPr>
          <p:cNvPr id="28" name="Text 26"/>
          <p:cNvSpPr/>
          <p:nvPr/>
        </p:nvSpPr>
        <p:spPr>
          <a:xfrm>
            <a:off x="7955280" y="3108960"/>
            <a:ext cx="3246120" cy="27432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29" name="Shape 27"/>
          <p:cNvSpPr/>
          <p:nvPr/>
        </p:nvSpPr>
        <p:spPr>
          <a:xfrm>
            <a:off x="7955280" y="3383280"/>
            <a:ext cx="3246120" cy="658368"/>
          </a:xfrm>
          <a:prstGeom prst="roundRect">
            <a:avLst>
              <a:gd name="adj" fmla="val 13889"/>
            </a:avLst>
          </a:prstGeom>
          <a:solidFill>
            <a:srgbClr val="FFFFFF"/>
          </a:solidFill>
          <a:ln w="25400">
            <a:solidFill>
              <a:srgbClr val="F57C1F"/>
            </a:solidFill>
            <a:prstDash val="solid"/>
          </a:ln>
        </p:spPr>
      </p:sp>
      <p:sp>
        <p:nvSpPr>
          <p:cNvPr id="30" name="Text 28"/>
          <p:cNvSpPr/>
          <p:nvPr/>
        </p:nvSpPr>
        <p:spPr>
          <a:xfrm>
            <a:off x="8092440" y="3383280"/>
            <a:ext cx="640080" cy="65836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1" name="Text 29"/>
          <p:cNvSpPr/>
          <p:nvPr/>
        </p:nvSpPr>
        <p:spPr>
          <a:xfrm>
            <a:off x="8732520" y="3383280"/>
            <a:ext cx="2377440" cy="658368"/>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Pantry</a:t>
            </a:r>
            <a:endParaRPr lang="en-US" sz="1800" dirty="0"/>
          </a:p>
        </p:txBody>
      </p:sp>
      <p:sp>
        <p:nvSpPr>
          <p:cNvPr id="32" name="Text 30"/>
          <p:cNvSpPr/>
          <p:nvPr/>
        </p:nvSpPr>
        <p:spPr>
          <a:xfrm>
            <a:off x="7955280" y="4023360"/>
            <a:ext cx="3246120" cy="27432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33" name="Shape 31"/>
          <p:cNvSpPr/>
          <p:nvPr/>
        </p:nvSpPr>
        <p:spPr>
          <a:xfrm>
            <a:off x="7955280" y="4297680"/>
            <a:ext cx="3246120" cy="658368"/>
          </a:xfrm>
          <a:prstGeom prst="roundRect">
            <a:avLst>
              <a:gd name="adj" fmla="val 13889"/>
            </a:avLst>
          </a:prstGeom>
          <a:solidFill>
            <a:srgbClr val="FFFFFF"/>
          </a:solidFill>
          <a:ln w="25400">
            <a:solidFill>
              <a:srgbClr val="2E7D46"/>
            </a:solidFill>
            <a:prstDash val="solid"/>
          </a:ln>
        </p:spPr>
      </p:sp>
      <p:sp>
        <p:nvSpPr>
          <p:cNvPr id="34" name="Text 32"/>
          <p:cNvSpPr/>
          <p:nvPr/>
        </p:nvSpPr>
        <p:spPr>
          <a:xfrm>
            <a:off x="8092440" y="4297680"/>
            <a:ext cx="640080" cy="65836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5" name="Text 33"/>
          <p:cNvSpPr/>
          <p:nvPr/>
        </p:nvSpPr>
        <p:spPr>
          <a:xfrm>
            <a:off x="8732520" y="4297680"/>
            <a:ext cx="2377440" cy="658368"/>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AI Analysis</a:t>
            </a:r>
            <a:endParaRPr lang="en-US" sz="1800" dirty="0"/>
          </a:p>
        </p:txBody>
      </p:sp>
      <p:sp>
        <p:nvSpPr>
          <p:cNvPr id="36" name="Text 34"/>
          <p:cNvSpPr/>
          <p:nvPr/>
        </p:nvSpPr>
        <p:spPr>
          <a:xfrm>
            <a:off x="7955280" y="4937760"/>
            <a:ext cx="3246120" cy="27432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37" name="Shape 35"/>
          <p:cNvSpPr/>
          <p:nvPr/>
        </p:nvSpPr>
        <p:spPr>
          <a:xfrm>
            <a:off x="7955280" y="5212080"/>
            <a:ext cx="3246120" cy="658368"/>
          </a:xfrm>
          <a:prstGeom prst="roundRect">
            <a:avLst>
              <a:gd name="adj" fmla="val 13889"/>
            </a:avLst>
          </a:prstGeom>
          <a:solidFill>
            <a:srgbClr val="FFFFFF"/>
          </a:solidFill>
          <a:ln w="25400">
            <a:solidFill>
              <a:srgbClr val="F57C1F"/>
            </a:solidFill>
            <a:prstDash val="solid"/>
          </a:ln>
        </p:spPr>
      </p:sp>
      <p:sp>
        <p:nvSpPr>
          <p:cNvPr id="38" name="Text 36"/>
          <p:cNvSpPr/>
          <p:nvPr/>
        </p:nvSpPr>
        <p:spPr>
          <a:xfrm>
            <a:off x="8092440" y="5212080"/>
            <a:ext cx="640080" cy="65836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9" name="Text 37"/>
          <p:cNvSpPr/>
          <p:nvPr/>
        </p:nvSpPr>
        <p:spPr>
          <a:xfrm>
            <a:off x="8732520" y="5212080"/>
            <a:ext cx="2377440" cy="658368"/>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Smart Suggestions</a:t>
            </a:r>
            <a:endParaRPr lang="en-US" sz="1800" dirty="0"/>
          </a:p>
        </p:txBody>
      </p:sp>
      <p:sp>
        <p:nvSpPr>
          <p:cNvPr id="40" name="Text 38"/>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41" name="Text 39"/>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03  •  SCOPE</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Objectives &amp; Technologies Used</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Shape 5"/>
          <p:cNvSpPr/>
          <p:nvPr/>
        </p:nvSpPr>
        <p:spPr>
          <a:xfrm>
            <a:off x="548640" y="1828800"/>
            <a:ext cx="5486400" cy="4572000"/>
          </a:xfrm>
          <a:prstGeom prst="roundRect">
            <a:avLst>
              <a:gd name="adj" fmla="val 3000"/>
            </a:avLst>
          </a:prstGeom>
          <a:solidFill>
            <a:srgbClr val="F8FAFC"/>
          </a:solidFill>
          <a:ln w="25400">
            <a:solidFill>
              <a:srgbClr val="2E7D46"/>
            </a:solidFill>
            <a:prstDash val="solid"/>
          </a:ln>
        </p:spPr>
      </p:sp>
      <p:sp>
        <p:nvSpPr>
          <p:cNvPr id="8" name="Shape 6"/>
          <p:cNvSpPr/>
          <p:nvPr/>
        </p:nvSpPr>
        <p:spPr>
          <a:xfrm>
            <a:off x="548640" y="1828800"/>
            <a:ext cx="5486400" cy="548640"/>
          </a:xfrm>
          <a:prstGeom prst="rect">
            <a:avLst/>
          </a:prstGeom>
          <a:solidFill>
            <a:srgbClr val="2E7D46"/>
          </a:solidFill>
          <a:ln/>
        </p:spPr>
      </p:sp>
      <p:sp>
        <p:nvSpPr>
          <p:cNvPr id="9" name="Text 7"/>
          <p:cNvSpPr/>
          <p:nvPr/>
        </p:nvSpPr>
        <p:spPr>
          <a:xfrm>
            <a:off x="731520" y="1828800"/>
            <a:ext cx="5120640" cy="548640"/>
          </a:xfrm>
          <a:prstGeom prst="rect">
            <a:avLst/>
          </a:prstGeom>
          <a:noFill/>
          <a:ln/>
        </p:spPr>
        <p:txBody>
          <a:bodyPr wrap="square" rtlCol="0" anchor="ctr"/>
          <a:lstStyle/>
          <a:p>
            <a:pPr marL="0" indent="0">
              <a:buNone/>
            </a:pPr>
            <a:r>
              <a:rPr lang="en-US" sz="2000" b="1" dirty="0">
                <a:solidFill>
                  <a:srgbClr val="FFFFFF"/>
                </a:solidFill>
                <a:latin typeface="Poppins" pitchFamily="34" charset="0"/>
                <a:ea typeface="Poppins" pitchFamily="34" charset="-122"/>
                <a:cs typeface="Poppins" pitchFamily="34" charset="-120"/>
              </a:rPr>
              <a:t>🎯  OBJECTIVES</a:t>
            </a:r>
            <a:endParaRPr lang="en-US" sz="2000" dirty="0"/>
          </a:p>
        </p:txBody>
      </p:sp>
      <p:sp>
        <p:nvSpPr>
          <p:cNvPr id="10" name="Text 8"/>
          <p:cNvSpPr/>
          <p:nvPr/>
        </p:nvSpPr>
        <p:spPr>
          <a:xfrm>
            <a:off x="822960" y="260604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11" name="Text 9"/>
          <p:cNvSpPr/>
          <p:nvPr/>
        </p:nvSpPr>
        <p:spPr>
          <a:xfrm>
            <a:off x="1234440" y="260604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Reduce food waste</a:t>
            </a:r>
            <a:endParaRPr lang="en-US" sz="1800" dirty="0"/>
          </a:p>
        </p:txBody>
      </p:sp>
      <p:sp>
        <p:nvSpPr>
          <p:cNvPr id="12" name="Text 10"/>
          <p:cNvSpPr/>
          <p:nvPr/>
        </p:nvSpPr>
        <p:spPr>
          <a:xfrm>
            <a:off x="822960" y="320040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13" name="Text 11"/>
          <p:cNvSpPr/>
          <p:nvPr/>
        </p:nvSpPr>
        <p:spPr>
          <a:xfrm>
            <a:off x="1234440" y="320040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Track pantry inventory</a:t>
            </a:r>
            <a:endParaRPr lang="en-US" sz="1800" dirty="0"/>
          </a:p>
        </p:txBody>
      </p:sp>
      <p:sp>
        <p:nvSpPr>
          <p:cNvPr id="14" name="Text 12"/>
          <p:cNvSpPr/>
          <p:nvPr/>
        </p:nvSpPr>
        <p:spPr>
          <a:xfrm>
            <a:off x="822960" y="379476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15" name="Text 13"/>
          <p:cNvSpPr/>
          <p:nvPr/>
        </p:nvSpPr>
        <p:spPr>
          <a:xfrm>
            <a:off x="1234440" y="379476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Monitor expiry dates</a:t>
            </a:r>
            <a:endParaRPr lang="en-US" sz="1800" dirty="0"/>
          </a:p>
        </p:txBody>
      </p:sp>
      <p:sp>
        <p:nvSpPr>
          <p:cNvPr id="16" name="Text 14"/>
          <p:cNvSpPr/>
          <p:nvPr/>
        </p:nvSpPr>
        <p:spPr>
          <a:xfrm>
            <a:off x="822960" y="438912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17" name="Text 15"/>
          <p:cNvSpPr/>
          <p:nvPr/>
        </p:nvSpPr>
        <p:spPr>
          <a:xfrm>
            <a:off x="1234440" y="438912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Generate AI recipe suggestions</a:t>
            </a:r>
            <a:endParaRPr lang="en-US" sz="1800" dirty="0"/>
          </a:p>
        </p:txBody>
      </p:sp>
      <p:sp>
        <p:nvSpPr>
          <p:cNvPr id="18" name="Text 16"/>
          <p:cNvSpPr/>
          <p:nvPr/>
        </p:nvSpPr>
        <p:spPr>
          <a:xfrm>
            <a:off x="822960" y="498348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19" name="Text 17"/>
          <p:cNvSpPr/>
          <p:nvPr/>
        </p:nvSpPr>
        <p:spPr>
          <a:xfrm>
            <a:off x="1234440" y="498348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Create smart shopping lists</a:t>
            </a:r>
            <a:endParaRPr lang="en-US" sz="1800" dirty="0"/>
          </a:p>
        </p:txBody>
      </p:sp>
      <p:sp>
        <p:nvSpPr>
          <p:cNvPr id="20" name="Text 18"/>
          <p:cNvSpPr/>
          <p:nvPr/>
        </p:nvSpPr>
        <p:spPr>
          <a:xfrm>
            <a:off x="822960" y="5577840"/>
            <a:ext cx="365760" cy="457200"/>
          </a:xfrm>
          <a:prstGeom prst="rect">
            <a:avLst/>
          </a:prstGeom>
          <a:noFill/>
          <a:ln/>
        </p:spPr>
        <p:txBody>
          <a:bodyPr wrap="square" rtlCol="0" anchor="ctr"/>
          <a:lstStyle/>
          <a:p>
            <a:pPr marL="0" indent="0">
              <a:buNone/>
            </a:pPr>
            <a:r>
              <a:rPr lang="en-US" sz="2200" b="1" dirty="0">
                <a:solidFill>
                  <a:srgbClr val="F57C1F"/>
                </a:solidFill>
                <a:latin typeface="Poppins" pitchFamily="34" charset="0"/>
                <a:ea typeface="Poppins" pitchFamily="34" charset="-122"/>
                <a:cs typeface="Poppins" pitchFamily="34" charset="-120"/>
              </a:rPr>
              <a:t>✓</a:t>
            </a:r>
            <a:endParaRPr lang="en-US" sz="2200" dirty="0"/>
          </a:p>
        </p:txBody>
      </p:sp>
      <p:sp>
        <p:nvSpPr>
          <p:cNvPr id="21" name="Text 19"/>
          <p:cNvSpPr/>
          <p:nvPr/>
        </p:nvSpPr>
        <p:spPr>
          <a:xfrm>
            <a:off x="1234440" y="5577840"/>
            <a:ext cx="4663440" cy="457200"/>
          </a:xfrm>
          <a:prstGeom prst="rect">
            <a:avLst/>
          </a:prstGeom>
          <a:noFill/>
          <a:ln/>
        </p:spPr>
        <p:txBody>
          <a:bodyPr wrap="square" rtlCol="0" anchor="ctr"/>
          <a:lstStyle/>
          <a:p>
            <a:pPr marL="0" indent="0">
              <a:buNone/>
            </a:pPr>
            <a:r>
              <a:rPr lang="en-US" sz="1800" b="1" dirty="0">
                <a:solidFill>
                  <a:srgbClr val="1F2937"/>
                </a:solidFill>
                <a:latin typeface="Poppins" pitchFamily="34" charset="0"/>
                <a:ea typeface="Poppins" pitchFamily="34" charset="-122"/>
                <a:cs typeface="Poppins" pitchFamily="34" charset="-120"/>
              </a:rPr>
              <a:t>Analyze grocery expenses</a:t>
            </a:r>
            <a:endParaRPr lang="en-US" sz="1800" dirty="0"/>
          </a:p>
        </p:txBody>
      </p:sp>
      <p:sp>
        <p:nvSpPr>
          <p:cNvPr id="22" name="Shape 20"/>
          <p:cNvSpPr/>
          <p:nvPr/>
        </p:nvSpPr>
        <p:spPr>
          <a:xfrm>
            <a:off x="6263640" y="1828800"/>
            <a:ext cx="5394960" cy="4572000"/>
          </a:xfrm>
          <a:prstGeom prst="roundRect">
            <a:avLst>
              <a:gd name="adj" fmla="val 3000"/>
            </a:avLst>
          </a:prstGeom>
          <a:solidFill>
            <a:srgbClr val="F8FAFC"/>
          </a:solidFill>
          <a:ln w="25400">
            <a:solidFill>
              <a:srgbClr val="F57C1F"/>
            </a:solidFill>
            <a:prstDash val="solid"/>
          </a:ln>
        </p:spPr>
      </p:sp>
      <p:sp>
        <p:nvSpPr>
          <p:cNvPr id="23" name="Shape 21"/>
          <p:cNvSpPr/>
          <p:nvPr/>
        </p:nvSpPr>
        <p:spPr>
          <a:xfrm>
            <a:off x="6263640" y="1828800"/>
            <a:ext cx="5394960" cy="548640"/>
          </a:xfrm>
          <a:prstGeom prst="rect">
            <a:avLst/>
          </a:prstGeom>
          <a:solidFill>
            <a:srgbClr val="F57C1F"/>
          </a:solidFill>
          <a:ln/>
        </p:spPr>
      </p:sp>
      <p:sp>
        <p:nvSpPr>
          <p:cNvPr id="24" name="Text 22"/>
          <p:cNvSpPr/>
          <p:nvPr/>
        </p:nvSpPr>
        <p:spPr>
          <a:xfrm>
            <a:off x="6446520" y="1828800"/>
            <a:ext cx="5029200" cy="548640"/>
          </a:xfrm>
          <a:prstGeom prst="rect">
            <a:avLst/>
          </a:prstGeom>
          <a:noFill/>
          <a:ln/>
        </p:spPr>
        <p:txBody>
          <a:bodyPr wrap="square" rtlCol="0" anchor="ctr"/>
          <a:lstStyle/>
          <a:p>
            <a:pPr marL="0" indent="0">
              <a:buNone/>
            </a:pPr>
            <a:r>
              <a:rPr lang="en-US" sz="2000" b="1" dirty="0">
                <a:solidFill>
                  <a:srgbClr val="FFFFFF"/>
                </a:solidFill>
                <a:latin typeface="Poppins" pitchFamily="34" charset="0"/>
                <a:ea typeface="Poppins" pitchFamily="34" charset="-122"/>
                <a:cs typeface="Poppins" pitchFamily="34" charset="-120"/>
              </a:rPr>
              <a:t>⚙️  TECHNOLOGIES USED</a:t>
            </a:r>
            <a:endParaRPr lang="en-US" sz="2000" dirty="0"/>
          </a:p>
        </p:txBody>
      </p:sp>
      <p:sp>
        <p:nvSpPr>
          <p:cNvPr id="25" name="Shape 23"/>
          <p:cNvSpPr/>
          <p:nvPr/>
        </p:nvSpPr>
        <p:spPr>
          <a:xfrm>
            <a:off x="6446520" y="2560320"/>
            <a:ext cx="1371600" cy="457200"/>
          </a:xfrm>
          <a:prstGeom prst="roundRect">
            <a:avLst>
              <a:gd name="adj" fmla="val 12000"/>
            </a:avLst>
          </a:prstGeom>
          <a:solidFill>
            <a:srgbClr val="2E7D46"/>
          </a:solidFill>
          <a:ln/>
        </p:spPr>
      </p:sp>
      <p:sp>
        <p:nvSpPr>
          <p:cNvPr id="26" name="Text 24"/>
          <p:cNvSpPr/>
          <p:nvPr/>
        </p:nvSpPr>
        <p:spPr>
          <a:xfrm>
            <a:off x="6446520" y="2560320"/>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Frontend</a:t>
            </a:r>
            <a:endParaRPr lang="en-US" sz="1400" dirty="0"/>
          </a:p>
        </p:txBody>
      </p:sp>
      <p:sp>
        <p:nvSpPr>
          <p:cNvPr id="27" name="Text 25"/>
          <p:cNvSpPr/>
          <p:nvPr/>
        </p:nvSpPr>
        <p:spPr>
          <a:xfrm>
            <a:off x="7955280" y="2560320"/>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React.js + Tailwind CSS</a:t>
            </a:r>
            <a:endParaRPr lang="en-US" sz="1600" dirty="0"/>
          </a:p>
        </p:txBody>
      </p:sp>
      <p:sp>
        <p:nvSpPr>
          <p:cNvPr id="28" name="Shape 26"/>
          <p:cNvSpPr/>
          <p:nvPr/>
        </p:nvSpPr>
        <p:spPr>
          <a:xfrm>
            <a:off x="6446520" y="3182112"/>
            <a:ext cx="1371600" cy="457200"/>
          </a:xfrm>
          <a:prstGeom prst="roundRect">
            <a:avLst>
              <a:gd name="adj" fmla="val 12000"/>
            </a:avLst>
          </a:prstGeom>
          <a:solidFill>
            <a:srgbClr val="2E7D46"/>
          </a:solidFill>
          <a:ln/>
        </p:spPr>
      </p:sp>
      <p:sp>
        <p:nvSpPr>
          <p:cNvPr id="29" name="Text 27"/>
          <p:cNvSpPr/>
          <p:nvPr/>
        </p:nvSpPr>
        <p:spPr>
          <a:xfrm>
            <a:off x="6446520" y="3182112"/>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Backend</a:t>
            </a:r>
            <a:endParaRPr lang="en-US" sz="1400" dirty="0"/>
          </a:p>
        </p:txBody>
      </p:sp>
      <p:sp>
        <p:nvSpPr>
          <p:cNvPr id="30" name="Text 28"/>
          <p:cNvSpPr/>
          <p:nvPr/>
        </p:nvSpPr>
        <p:spPr>
          <a:xfrm>
            <a:off x="7955280" y="3182112"/>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Python FastAPI</a:t>
            </a:r>
            <a:endParaRPr lang="en-US" sz="1600" dirty="0"/>
          </a:p>
        </p:txBody>
      </p:sp>
      <p:sp>
        <p:nvSpPr>
          <p:cNvPr id="31" name="Shape 29"/>
          <p:cNvSpPr/>
          <p:nvPr/>
        </p:nvSpPr>
        <p:spPr>
          <a:xfrm>
            <a:off x="6446520" y="3803904"/>
            <a:ext cx="1371600" cy="457200"/>
          </a:xfrm>
          <a:prstGeom prst="roundRect">
            <a:avLst>
              <a:gd name="adj" fmla="val 12000"/>
            </a:avLst>
          </a:prstGeom>
          <a:solidFill>
            <a:srgbClr val="2E7D46"/>
          </a:solidFill>
          <a:ln/>
        </p:spPr>
      </p:sp>
      <p:sp>
        <p:nvSpPr>
          <p:cNvPr id="32" name="Text 30"/>
          <p:cNvSpPr/>
          <p:nvPr/>
        </p:nvSpPr>
        <p:spPr>
          <a:xfrm>
            <a:off x="6446520" y="3803904"/>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Database</a:t>
            </a:r>
            <a:endParaRPr lang="en-US" sz="1400" dirty="0"/>
          </a:p>
        </p:txBody>
      </p:sp>
      <p:sp>
        <p:nvSpPr>
          <p:cNvPr id="33" name="Text 31"/>
          <p:cNvSpPr/>
          <p:nvPr/>
        </p:nvSpPr>
        <p:spPr>
          <a:xfrm>
            <a:off x="7955280" y="3803904"/>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MongoDB Atlas</a:t>
            </a:r>
            <a:endParaRPr lang="en-US" sz="1600" dirty="0"/>
          </a:p>
        </p:txBody>
      </p:sp>
      <p:sp>
        <p:nvSpPr>
          <p:cNvPr id="34" name="Shape 32"/>
          <p:cNvSpPr/>
          <p:nvPr/>
        </p:nvSpPr>
        <p:spPr>
          <a:xfrm>
            <a:off x="6446520" y="4425696"/>
            <a:ext cx="1371600" cy="457200"/>
          </a:xfrm>
          <a:prstGeom prst="roundRect">
            <a:avLst>
              <a:gd name="adj" fmla="val 12000"/>
            </a:avLst>
          </a:prstGeom>
          <a:solidFill>
            <a:srgbClr val="2E7D46"/>
          </a:solidFill>
          <a:ln/>
        </p:spPr>
      </p:sp>
      <p:sp>
        <p:nvSpPr>
          <p:cNvPr id="35" name="Text 33"/>
          <p:cNvSpPr/>
          <p:nvPr/>
        </p:nvSpPr>
        <p:spPr>
          <a:xfrm>
            <a:off x="6446520" y="4425696"/>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AI</a:t>
            </a:r>
            <a:endParaRPr lang="en-US" sz="1400" dirty="0"/>
          </a:p>
        </p:txBody>
      </p:sp>
      <p:sp>
        <p:nvSpPr>
          <p:cNvPr id="36" name="Text 34"/>
          <p:cNvSpPr/>
          <p:nvPr/>
        </p:nvSpPr>
        <p:spPr>
          <a:xfrm>
            <a:off x="7955280" y="4425696"/>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Google Gemini API</a:t>
            </a:r>
            <a:endParaRPr lang="en-US" sz="1600" dirty="0"/>
          </a:p>
        </p:txBody>
      </p:sp>
      <p:sp>
        <p:nvSpPr>
          <p:cNvPr id="37" name="Shape 35"/>
          <p:cNvSpPr/>
          <p:nvPr/>
        </p:nvSpPr>
        <p:spPr>
          <a:xfrm>
            <a:off x="6446520" y="5047488"/>
            <a:ext cx="1371600" cy="457200"/>
          </a:xfrm>
          <a:prstGeom prst="roundRect">
            <a:avLst>
              <a:gd name="adj" fmla="val 12000"/>
            </a:avLst>
          </a:prstGeom>
          <a:solidFill>
            <a:srgbClr val="2E7D46"/>
          </a:solidFill>
          <a:ln/>
        </p:spPr>
      </p:sp>
      <p:sp>
        <p:nvSpPr>
          <p:cNvPr id="38" name="Text 36"/>
          <p:cNvSpPr/>
          <p:nvPr/>
        </p:nvSpPr>
        <p:spPr>
          <a:xfrm>
            <a:off x="6446520" y="5047488"/>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Auth</a:t>
            </a:r>
            <a:endParaRPr lang="en-US" sz="1400" dirty="0"/>
          </a:p>
        </p:txBody>
      </p:sp>
      <p:sp>
        <p:nvSpPr>
          <p:cNvPr id="39" name="Text 37"/>
          <p:cNvSpPr/>
          <p:nvPr/>
        </p:nvSpPr>
        <p:spPr>
          <a:xfrm>
            <a:off x="7955280" y="5047488"/>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JWT</a:t>
            </a:r>
            <a:endParaRPr lang="en-US" sz="1600" dirty="0"/>
          </a:p>
        </p:txBody>
      </p:sp>
      <p:sp>
        <p:nvSpPr>
          <p:cNvPr id="40" name="Shape 38"/>
          <p:cNvSpPr/>
          <p:nvPr/>
        </p:nvSpPr>
        <p:spPr>
          <a:xfrm>
            <a:off x="6446520" y="5669280"/>
            <a:ext cx="1371600" cy="457200"/>
          </a:xfrm>
          <a:prstGeom prst="roundRect">
            <a:avLst>
              <a:gd name="adj" fmla="val 12000"/>
            </a:avLst>
          </a:prstGeom>
          <a:solidFill>
            <a:srgbClr val="2E7D46"/>
          </a:solidFill>
          <a:ln/>
        </p:spPr>
      </p:sp>
      <p:sp>
        <p:nvSpPr>
          <p:cNvPr id="41" name="Text 39"/>
          <p:cNvSpPr/>
          <p:nvPr/>
        </p:nvSpPr>
        <p:spPr>
          <a:xfrm>
            <a:off x="6446520" y="5669280"/>
            <a:ext cx="1371600" cy="45720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Tools</a:t>
            </a:r>
            <a:endParaRPr lang="en-US" sz="1400" dirty="0"/>
          </a:p>
        </p:txBody>
      </p:sp>
      <p:sp>
        <p:nvSpPr>
          <p:cNvPr id="42" name="Text 40"/>
          <p:cNvSpPr/>
          <p:nvPr/>
        </p:nvSpPr>
        <p:spPr>
          <a:xfrm>
            <a:off x="7955280" y="5669280"/>
            <a:ext cx="3566160" cy="45720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VS Code · Git · GitHub · Postman</a:t>
            </a:r>
            <a:endParaRPr lang="en-US" sz="1600" dirty="0"/>
          </a:p>
        </p:txBody>
      </p:sp>
      <p:sp>
        <p:nvSpPr>
          <p:cNvPr id="43" name="Text 41"/>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44" name="Text 42"/>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04  •  DESIGN</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System Architecture</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Shape 5"/>
          <p:cNvSpPr/>
          <p:nvPr/>
        </p:nvSpPr>
        <p:spPr>
          <a:xfrm>
            <a:off x="2194560" y="1828800"/>
            <a:ext cx="7772400" cy="621792"/>
          </a:xfrm>
          <a:prstGeom prst="roundRect">
            <a:avLst>
              <a:gd name="adj" fmla="val 14706"/>
            </a:avLst>
          </a:prstGeom>
          <a:solidFill>
            <a:srgbClr val="FFFFFF"/>
          </a:solidFill>
          <a:ln w="31750">
            <a:solidFill>
              <a:srgbClr val="2E7D46"/>
            </a:solidFill>
            <a:prstDash val="solid"/>
          </a:ln>
        </p:spPr>
      </p:sp>
      <p:sp>
        <p:nvSpPr>
          <p:cNvPr id="8" name="Shape 6"/>
          <p:cNvSpPr/>
          <p:nvPr/>
        </p:nvSpPr>
        <p:spPr>
          <a:xfrm>
            <a:off x="2194560" y="1828800"/>
            <a:ext cx="137160" cy="621792"/>
          </a:xfrm>
          <a:prstGeom prst="rect">
            <a:avLst/>
          </a:prstGeom>
          <a:solidFill>
            <a:srgbClr val="2E7D46"/>
          </a:solidFill>
          <a:ln/>
        </p:spPr>
      </p:sp>
      <p:sp>
        <p:nvSpPr>
          <p:cNvPr id="9" name="Text 7"/>
          <p:cNvSpPr/>
          <p:nvPr/>
        </p:nvSpPr>
        <p:spPr>
          <a:xfrm>
            <a:off x="2423160" y="1828800"/>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3291840" y="1828800"/>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User</a:t>
            </a:r>
            <a:endParaRPr lang="en-US" sz="2000" dirty="0"/>
          </a:p>
        </p:txBody>
      </p:sp>
      <p:sp>
        <p:nvSpPr>
          <p:cNvPr id="11" name="Text 9"/>
          <p:cNvSpPr/>
          <p:nvPr/>
        </p:nvSpPr>
        <p:spPr>
          <a:xfrm>
            <a:off x="6492240" y="1828800"/>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Interacts via browser</a:t>
            </a:r>
            <a:endParaRPr lang="en-US" sz="1500" dirty="0"/>
          </a:p>
        </p:txBody>
      </p:sp>
      <p:sp>
        <p:nvSpPr>
          <p:cNvPr id="12" name="Text 10"/>
          <p:cNvSpPr/>
          <p:nvPr/>
        </p:nvSpPr>
        <p:spPr>
          <a:xfrm>
            <a:off x="5852160" y="2404872"/>
            <a:ext cx="457200" cy="22860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13" name="Shape 11"/>
          <p:cNvSpPr/>
          <p:nvPr/>
        </p:nvSpPr>
        <p:spPr>
          <a:xfrm>
            <a:off x="2194560" y="2587752"/>
            <a:ext cx="7772400" cy="621792"/>
          </a:xfrm>
          <a:prstGeom prst="roundRect">
            <a:avLst>
              <a:gd name="adj" fmla="val 14706"/>
            </a:avLst>
          </a:prstGeom>
          <a:solidFill>
            <a:srgbClr val="FFFFFF"/>
          </a:solidFill>
          <a:ln w="31750">
            <a:solidFill>
              <a:srgbClr val="F57C1F"/>
            </a:solidFill>
            <a:prstDash val="solid"/>
          </a:ln>
        </p:spPr>
      </p:sp>
      <p:sp>
        <p:nvSpPr>
          <p:cNvPr id="14" name="Shape 12"/>
          <p:cNvSpPr/>
          <p:nvPr/>
        </p:nvSpPr>
        <p:spPr>
          <a:xfrm>
            <a:off x="2194560" y="2587752"/>
            <a:ext cx="137160" cy="621792"/>
          </a:xfrm>
          <a:prstGeom prst="rect">
            <a:avLst/>
          </a:prstGeom>
          <a:solidFill>
            <a:srgbClr val="F57C1F"/>
          </a:solidFill>
          <a:ln/>
        </p:spPr>
      </p:sp>
      <p:sp>
        <p:nvSpPr>
          <p:cNvPr id="15" name="Text 13"/>
          <p:cNvSpPr/>
          <p:nvPr/>
        </p:nvSpPr>
        <p:spPr>
          <a:xfrm>
            <a:off x="2423160" y="2587752"/>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3291840" y="2587752"/>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React Frontend</a:t>
            </a:r>
            <a:endParaRPr lang="en-US" sz="2000" dirty="0"/>
          </a:p>
        </p:txBody>
      </p:sp>
      <p:sp>
        <p:nvSpPr>
          <p:cNvPr id="17" name="Text 15"/>
          <p:cNvSpPr/>
          <p:nvPr/>
        </p:nvSpPr>
        <p:spPr>
          <a:xfrm>
            <a:off x="6492240" y="2587752"/>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UI + Tailwind CSS</a:t>
            </a:r>
            <a:endParaRPr lang="en-US" sz="1500" dirty="0"/>
          </a:p>
        </p:txBody>
      </p:sp>
      <p:sp>
        <p:nvSpPr>
          <p:cNvPr id="18" name="Text 16"/>
          <p:cNvSpPr/>
          <p:nvPr/>
        </p:nvSpPr>
        <p:spPr>
          <a:xfrm>
            <a:off x="5852160" y="3163824"/>
            <a:ext cx="457200" cy="22860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19" name="Shape 17"/>
          <p:cNvSpPr/>
          <p:nvPr/>
        </p:nvSpPr>
        <p:spPr>
          <a:xfrm>
            <a:off x="2194560" y="3346704"/>
            <a:ext cx="7772400" cy="621792"/>
          </a:xfrm>
          <a:prstGeom prst="roundRect">
            <a:avLst>
              <a:gd name="adj" fmla="val 14706"/>
            </a:avLst>
          </a:prstGeom>
          <a:solidFill>
            <a:srgbClr val="FFFFFF"/>
          </a:solidFill>
          <a:ln w="31750">
            <a:solidFill>
              <a:srgbClr val="2E7D46"/>
            </a:solidFill>
            <a:prstDash val="solid"/>
          </a:ln>
        </p:spPr>
      </p:sp>
      <p:sp>
        <p:nvSpPr>
          <p:cNvPr id="20" name="Shape 18"/>
          <p:cNvSpPr/>
          <p:nvPr/>
        </p:nvSpPr>
        <p:spPr>
          <a:xfrm>
            <a:off x="2194560" y="3346704"/>
            <a:ext cx="137160" cy="621792"/>
          </a:xfrm>
          <a:prstGeom prst="rect">
            <a:avLst/>
          </a:prstGeom>
          <a:solidFill>
            <a:srgbClr val="2E7D46"/>
          </a:solidFill>
          <a:ln/>
        </p:spPr>
      </p:sp>
      <p:sp>
        <p:nvSpPr>
          <p:cNvPr id="21" name="Text 19"/>
          <p:cNvSpPr/>
          <p:nvPr/>
        </p:nvSpPr>
        <p:spPr>
          <a:xfrm>
            <a:off x="2423160" y="3346704"/>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2" name="Text 20"/>
          <p:cNvSpPr/>
          <p:nvPr/>
        </p:nvSpPr>
        <p:spPr>
          <a:xfrm>
            <a:off x="3291840" y="3346704"/>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Python FastAPI</a:t>
            </a:r>
            <a:endParaRPr lang="en-US" sz="2000" dirty="0"/>
          </a:p>
        </p:txBody>
      </p:sp>
      <p:sp>
        <p:nvSpPr>
          <p:cNvPr id="23" name="Text 21"/>
          <p:cNvSpPr/>
          <p:nvPr/>
        </p:nvSpPr>
        <p:spPr>
          <a:xfrm>
            <a:off x="6492240" y="3346704"/>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Business logic &amp; APIs</a:t>
            </a:r>
            <a:endParaRPr lang="en-US" sz="1500" dirty="0"/>
          </a:p>
        </p:txBody>
      </p:sp>
      <p:sp>
        <p:nvSpPr>
          <p:cNvPr id="24" name="Text 22"/>
          <p:cNvSpPr/>
          <p:nvPr/>
        </p:nvSpPr>
        <p:spPr>
          <a:xfrm>
            <a:off x="5852160" y="3922776"/>
            <a:ext cx="457200" cy="22860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25" name="Shape 23"/>
          <p:cNvSpPr/>
          <p:nvPr/>
        </p:nvSpPr>
        <p:spPr>
          <a:xfrm>
            <a:off x="2194560" y="4105656"/>
            <a:ext cx="7772400" cy="621792"/>
          </a:xfrm>
          <a:prstGeom prst="roundRect">
            <a:avLst>
              <a:gd name="adj" fmla="val 14706"/>
            </a:avLst>
          </a:prstGeom>
          <a:solidFill>
            <a:srgbClr val="FFFFFF"/>
          </a:solidFill>
          <a:ln w="31750">
            <a:solidFill>
              <a:srgbClr val="F57C1F"/>
            </a:solidFill>
            <a:prstDash val="solid"/>
          </a:ln>
        </p:spPr>
      </p:sp>
      <p:sp>
        <p:nvSpPr>
          <p:cNvPr id="26" name="Shape 24"/>
          <p:cNvSpPr/>
          <p:nvPr/>
        </p:nvSpPr>
        <p:spPr>
          <a:xfrm>
            <a:off x="2194560" y="4105656"/>
            <a:ext cx="137160" cy="621792"/>
          </a:xfrm>
          <a:prstGeom prst="rect">
            <a:avLst/>
          </a:prstGeom>
          <a:solidFill>
            <a:srgbClr val="F57C1F"/>
          </a:solidFill>
          <a:ln/>
        </p:spPr>
      </p:sp>
      <p:sp>
        <p:nvSpPr>
          <p:cNvPr id="27" name="Text 25"/>
          <p:cNvSpPr/>
          <p:nvPr/>
        </p:nvSpPr>
        <p:spPr>
          <a:xfrm>
            <a:off x="2423160" y="4105656"/>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3291840" y="4105656"/>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Gemini AI API</a:t>
            </a:r>
            <a:endParaRPr lang="en-US" sz="2000" dirty="0"/>
          </a:p>
        </p:txBody>
      </p:sp>
      <p:sp>
        <p:nvSpPr>
          <p:cNvPr id="29" name="Text 27"/>
          <p:cNvSpPr/>
          <p:nvPr/>
        </p:nvSpPr>
        <p:spPr>
          <a:xfrm>
            <a:off x="6492240" y="4105656"/>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Intelligent analysis</a:t>
            </a:r>
            <a:endParaRPr lang="en-US" sz="1500" dirty="0"/>
          </a:p>
        </p:txBody>
      </p:sp>
      <p:sp>
        <p:nvSpPr>
          <p:cNvPr id="30" name="Text 28"/>
          <p:cNvSpPr/>
          <p:nvPr/>
        </p:nvSpPr>
        <p:spPr>
          <a:xfrm>
            <a:off x="5852160" y="4681728"/>
            <a:ext cx="457200" cy="22860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31" name="Shape 29"/>
          <p:cNvSpPr/>
          <p:nvPr/>
        </p:nvSpPr>
        <p:spPr>
          <a:xfrm>
            <a:off x="2194560" y="4864608"/>
            <a:ext cx="7772400" cy="621792"/>
          </a:xfrm>
          <a:prstGeom prst="roundRect">
            <a:avLst>
              <a:gd name="adj" fmla="val 14706"/>
            </a:avLst>
          </a:prstGeom>
          <a:solidFill>
            <a:srgbClr val="FFFFFF"/>
          </a:solidFill>
          <a:ln w="31750">
            <a:solidFill>
              <a:srgbClr val="2E7D46"/>
            </a:solidFill>
            <a:prstDash val="solid"/>
          </a:ln>
        </p:spPr>
      </p:sp>
      <p:sp>
        <p:nvSpPr>
          <p:cNvPr id="32" name="Shape 30"/>
          <p:cNvSpPr/>
          <p:nvPr/>
        </p:nvSpPr>
        <p:spPr>
          <a:xfrm>
            <a:off x="2194560" y="4864608"/>
            <a:ext cx="137160" cy="621792"/>
          </a:xfrm>
          <a:prstGeom prst="rect">
            <a:avLst/>
          </a:prstGeom>
          <a:solidFill>
            <a:srgbClr val="2E7D46"/>
          </a:solidFill>
          <a:ln/>
        </p:spPr>
      </p:sp>
      <p:sp>
        <p:nvSpPr>
          <p:cNvPr id="33" name="Text 31"/>
          <p:cNvSpPr/>
          <p:nvPr/>
        </p:nvSpPr>
        <p:spPr>
          <a:xfrm>
            <a:off x="2423160" y="4864608"/>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4" name="Text 32"/>
          <p:cNvSpPr/>
          <p:nvPr/>
        </p:nvSpPr>
        <p:spPr>
          <a:xfrm>
            <a:off x="3291840" y="4864608"/>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MongoDB Atlas</a:t>
            </a:r>
            <a:endParaRPr lang="en-US" sz="2000" dirty="0"/>
          </a:p>
        </p:txBody>
      </p:sp>
      <p:sp>
        <p:nvSpPr>
          <p:cNvPr id="35" name="Text 33"/>
          <p:cNvSpPr/>
          <p:nvPr/>
        </p:nvSpPr>
        <p:spPr>
          <a:xfrm>
            <a:off x="6492240" y="4864608"/>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Cloud database</a:t>
            </a:r>
            <a:endParaRPr lang="en-US" sz="1500" dirty="0"/>
          </a:p>
        </p:txBody>
      </p:sp>
      <p:sp>
        <p:nvSpPr>
          <p:cNvPr id="36" name="Text 34"/>
          <p:cNvSpPr/>
          <p:nvPr/>
        </p:nvSpPr>
        <p:spPr>
          <a:xfrm>
            <a:off x="5852160" y="5440680"/>
            <a:ext cx="457200" cy="228600"/>
          </a:xfrm>
          <a:prstGeom prst="rect">
            <a:avLst/>
          </a:prstGeom>
          <a:noFill/>
          <a:ln/>
        </p:spPr>
        <p:txBody>
          <a:bodyPr wrap="square" rtlCol="0" anchor="ctr"/>
          <a:lstStyle/>
          <a:p>
            <a:pPr marL="0" indent="0" algn="ctr">
              <a:buNone/>
            </a:pPr>
            <a:r>
              <a:rPr lang="en-US" sz="1400" b="1" dirty="0">
                <a:solidFill>
                  <a:srgbClr val="2E7D46"/>
                </a:solidFill>
              </a:rPr>
              <a:t>▼</a:t>
            </a:r>
            <a:endParaRPr lang="en-US" sz="1400" dirty="0"/>
          </a:p>
        </p:txBody>
      </p:sp>
      <p:sp>
        <p:nvSpPr>
          <p:cNvPr id="37" name="Shape 35"/>
          <p:cNvSpPr/>
          <p:nvPr/>
        </p:nvSpPr>
        <p:spPr>
          <a:xfrm>
            <a:off x="2194560" y="5623560"/>
            <a:ext cx="7772400" cy="621792"/>
          </a:xfrm>
          <a:prstGeom prst="roundRect">
            <a:avLst>
              <a:gd name="adj" fmla="val 14706"/>
            </a:avLst>
          </a:prstGeom>
          <a:solidFill>
            <a:srgbClr val="FFFFFF"/>
          </a:solidFill>
          <a:ln w="31750">
            <a:solidFill>
              <a:srgbClr val="F57C1F"/>
            </a:solidFill>
            <a:prstDash val="solid"/>
          </a:ln>
        </p:spPr>
      </p:sp>
      <p:sp>
        <p:nvSpPr>
          <p:cNvPr id="38" name="Shape 36"/>
          <p:cNvSpPr/>
          <p:nvPr/>
        </p:nvSpPr>
        <p:spPr>
          <a:xfrm>
            <a:off x="2194560" y="5623560"/>
            <a:ext cx="137160" cy="621792"/>
          </a:xfrm>
          <a:prstGeom prst="rect">
            <a:avLst/>
          </a:prstGeom>
          <a:solidFill>
            <a:srgbClr val="F57C1F"/>
          </a:solidFill>
          <a:ln/>
        </p:spPr>
      </p:sp>
      <p:sp>
        <p:nvSpPr>
          <p:cNvPr id="39" name="Text 37"/>
          <p:cNvSpPr/>
          <p:nvPr/>
        </p:nvSpPr>
        <p:spPr>
          <a:xfrm>
            <a:off x="2423160" y="5623560"/>
            <a:ext cx="777240" cy="621792"/>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40" name="Text 38"/>
          <p:cNvSpPr/>
          <p:nvPr/>
        </p:nvSpPr>
        <p:spPr>
          <a:xfrm>
            <a:off x="3291840" y="5623560"/>
            <a:ext cx="3200400" cy="621792"/>
          </a:xfrm>
          <a:prstGeom prst="rect">
            <a:avLst/>
          </a:prstGeom>
          <a:noFill/>
          <a:ln/>
        </p:spPr>
        <p:txBody>
          <a:bodyPr wrap="square" rtlCol="0" anchor="ctr"/>
          <a:lstStyle/>
          <a:p>
            <a:pPr marL="0" indent="0">
              <a:buNone/>
            </a:pPr>
            <a:r>
              <a:rPr lang="en-US" sz="2000" b="1" dirty="0">
                <a:solidFill>
                  <a:srgbClr val="1F2937"/>
                </a:solidFill>
                <a:latin typeface="Poppins" pitchFamily="34" charset="0"/>
                <a:ea typeface="Poppins" pitchFamily="34" charset="-122"/>
                <a:cs typeface="Poppins" pitchFamily="34" charset="-120"/>
              </a:rPr>
              <a:t>Dashboard &amp; Notifications</a:t>
            </a:r>
            <a:endParaRPr lang="en-US" sz="2000" dirty="0"/>
          </a:p>
        </p:txBody>
      </p:sp>
      <p:sp>
        <p:nvSpPr>
          <p:cNvPr id="41" name="Text 39"/>
          <p:cNvSpPr/>
          <p:nvPr/>
        </p:nvSpPr>
        <p:spPr>
          <a:xfrm>
            <a:off x="6492240" y="5623560"/>
            <a:ext cx="3383280" cy="621792"/>
          </a:xfrm>
          <a:prstGeom prst="rect">
            <a:avLst/>
          </a:prstGeom>
          <a:noFill/>
          <a:ln/>
        </p:spPr>
        <p:txBody>
          <a:bodyPr wrap="square" rtlCol="0" anchor="ctr"/>
          <a:lstStyle/>
          <a:p>
            <a:pPr marL="0" indent="0" algn="r">
              <a:buNone/>
            </a:pPr>
            <a:r>
              <a:rPr lang="en-US" sz="1500" b="1" dirty="0">
                <a:solidFill>
                  <a:srgbClr val="6B7280"/>
                </a:solidFill>
                <a:latin typeface="Poppins" pitchFamily="34" charset="0"/>
                <a:ea typeface="Poppins" pitchFamily="34" charset="-122"/>
                <a:cs typeface="Poppins" pitchFamily="34" charset="-120"/>
              </a:rPr>
              <a:t>Insights &amp; alerts</a:t>
            </a:r>
            <a:endParaRPr lang="en-US" sz="1500" dirty="0"/>
          </a:p>
        </p:txBody>
      </p:sp>
      <p:sp>
        <p:nvSpPr>
          <p:cNvPr id="42" name="Shape 40"/>
          <p:cNvSpPr/>
          <p:nvPr/>
        </p:nvSpPr>
        <p:spPr>
          <a:xfrm>
            <a:off x="548640" y="1828800"/>
            <a:ext cx="1463040" cy="4617720"/>
          </a:xfrm>
          <a:prstGeom prst="roundRect">
            <a:avLst>
              <a:gd name="adj" fmla="val 9375"/>
            </a:avLst>
          </a:prstGeom>
          <a:solidFill>
            <a:srgbClr val="E8F5E9"/>
          </a:solidFill>
          <a:ln/>
        </p:spPr>
      </p:sp>
      <p:sp>
        <p:nvSpPr>
          <p:cNvPr id="43" name="Text 41"/>
          <p:cNvSpPr/>
          <p:nvPr/>
        </p:nvSpPr>
        <p:spPr>
          <a:xfrm>
            <a:off x="548640" y="1828800"/>
            <a:ext cx="1463040" cy="4617720"/>
          </a:xfrm>
          <a:prstGeom prst="rect">
            <a:avLst/>
          </a:prstGeom>
          <a:noFill/>
          <a:ln/>
        </p:spPr>
        <p:txBody>
          <a:bodyPr wrap="square" rtlCol="0" anchor="ctr"/>
          <a:lstStyle/>
          <a:p>
            <a:pPr marL="0" indent="0" algn="ctr">
              <a:buNone/>
            </a:pPr>
            <a:r>
              <a:rPr lang="en-US" sz="2200" b="1" dirty="0">
                <a:solidFill>
                  <a:srgbClr val="1B5E20"/>
                </a:solidFill>
                <a:latin typeface="Poppins" pitchFamily="34" charset="0"/>
                <a:ea typeface="Poppins" pitchFamily="34" charset="-122"/>
                <a:cs typeface="Poppins" pitchFamily="34" charset="-120"/>
              </a:rPr>
              <a:t>DATA</a:t>
            </a:r>
            <a:endParaRPr lang="en-US" sz="2200" dirty="0"/>
          </a:p>
          <a:p>
            <a:pPr marL="0" indent="0" algn="ctr">
              <a:buNone/>
            </a:pPr>
            <a:r>
              <a:rPr lang="en-US" sz="2200" b="1" dirty="0">
                <a:solidFill>
                  <a:srgbClr val="1B5E20"/>
                </a:solidFill>
                <a:latin typeface="Poppins" pitchFamily="34" charset="0"/>
                <a:ea typeface="Poppins" pitchFamily="34" charset="-122"/>
                <a:cs typeface="Poppins" pitchFamily="34" charset="-120"/>
              </a:rPr>
              <a:t>FLOW</a:t>
            </a:r>
            <a:endParaRPr lang="en-US" sz="2200" dirty="0"/>
          </a:p>
        </p:txBody>
      </p:sp>
      <p:sp>
        <p:nvSpPr>
          <p:cNvPr id="44" name="Text 42"/>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45" name="Text 43"/>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05  •  FEATURES</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Modules &amp; AI Features</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Text 5"/>
          <p:cNvSpPr/>
          <p:nvPr/>
        </p:nvSpPr>
        <p:spPr>
          <a:xfrm>
            <a:off x="548640" y="1828800"/>
            <a:ext cx="7315200" cy="365760"/>
          </a:xfrm>
          <a:prstGeom prst="rect">
            <a:avLst/>
          </a:prstGeom>
          <a:noFill/>
          <a:ln/>
        </p:spPr>
        <p:txBody>
          <a:bodyPr wrap="square" rtlCol="0" anchor="ctr"/>
          <a:lstStyle/>
          <a:p>
            <a:pPr marL="0" indent="0">
              <a:buNone/>
            </a:pPr>
            <a:r>
              <a:rPr lang="en-US" sz="1600" b="1" kern="0" spc="400" dirty="0">
                <a:solidFill>
                  <a:srgbClr val="2E7D46"/>
                </a:solidFill>
                <a:latin typeface="Poppins" pitchFamily="34" charset="0"/>
                <a:ea typeface="Poppins" pitchFamily="34" charset="-122"/>
                <a:cs typeface="Poppins" pitchFamily="34" charset="-120"/>
              </a:rPr>
              <a:t>SYSTEM MODULES</a:t>
            </a:r>
            <a:endParaRPr lang="en-US" sz="1600" dirty="0"/>
          </a:p>
        </p:txBody>
      </p:sp>
      <p:sp>
        <p:nvSpPr>
          <p:cNvPr id="8" name="Shape 6"/>
          <p:cNvSpPr/>
          <p:nvPr/>
        </p:nvSpPr>
        <p:spPr>
          <a:xfrm>
            <a:off x="548640" y="2286000"/>
            <a:ext cx="1737360" cy="960120"/>
          </a:xfrm>
          <a:prstGeom prst="roundRect">
            <a:avLst>
              <a:gd name="adj" fmla="val 9524"/>
            </a:avLst>
          </a:prstGeom>
          <a:solidFill>
            <a:srgbClr val="F8FAFC"/>
          </a:solidFill>
          <a:ln w="19050">
            <a:solidFill>
              <a:srgbClr val="2E7D46"/>
            </a:solidFill>
            <a:prstDash val="solid"/>
          </a:ln>
        </p:spPr>
      </p:sp>
      <p:sp>
        <p:nvSpPr>
          <p:cNvPr id="9" name="Text 7"/>
          <p:cNvSpPr/>
          <p:nvPr/>
        </p:nvSpPr>
        <p:spPr>
          <a:xfrm>
            <a:off x="548640" y="235915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548640" y="278892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User Authentication</a:t>
            </a:r>
            <a:endParaRPr lang="en-US" sz="1200" dirty="0"/>
          </a:p>
        </p:txBody>
      </p:sp>
      <p:sp>
        <p:nvSpPr>
          <p:cNvPr id="11" name="Shape 9"/>
          <p:cNvSpPr/>
          <p:nvPr/>
        </p:nvSpPr>
        <p:spPr>
          <a:xfrm>
            <a:off x="2377440" y="2286000"/>
            <a:ext cx="1737360" cy="960120"/>
          </a:xfrm>
          <a:prstGeom prst="roundRect">
            <a:avLst>
              <a:gd name="adj" fmla="val 9524"/>
            </a:avLst>
          </a:prstGeom>
          <a:solidFill>
            <a:srgbClr val="F8FAFC"/>
          </a:solidFill>
          <a:ln w="19050">
            <a:solidFill>
              <a:srgbClr val="2E7D46"/>
            </a:solidFill>
            <a:prstDash val="solid"/>
          </a:ln>
        </p:spPr>
      </p:sp>
      <p:sp>
        <p:nvSpPr>
          <p:cNvPr id="12" name="Text 10"/>
          <p:cNvSpPr/>
          <p:nvPr/>
        </p:nvSpPr>
        <p:spPr>
          <a:xfrm>
            <a:off x="2377440" y="235915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2377440" y="278892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Pantry Management</a:t>
            </a:r>
            <a:endParaRPr lang="en-US" sz="1200" dirty="0"/>
          </a:p>
        </p:txBody>
      </p:sp>
      <p:sp>
        <p:nvSpPr>
          <p:cNvPr id="14" name="Shape 12"/>
          <p:cNvSpPr/>
          <p:nvPr/>
        </p:nvSpPr>
        <p:spPr>
          <a:xfrm>
            <a:off x="4206240" y="2286000"/>
            <a:ext cx="1737360" cy="960120"/>
          </a:xfrm>
          <a:prstGeom prst="roundRect">
            <a:avLst>
              <a:gd name="adj" fmla="val 9524"/>
            </a:avLst>
          </a:prstGeom>
          <a:solidFill>
            <a:srgbClr val="F8FAFC"/>
          </a:solidFill>
          <a:ln w="19050">
            <a:solidFill>
              <a:srgbClr val="2E7D46"/>
            </a:solidFill>
            <a:prstDash val="solid"/>
          </a:ln>
        </p:spPr>
      </p:sp>
      <p:sp>
        <p:nvSpPr>
          <p:cNvPr id="15" name="Text 13"/>
          <p:cNvSpPr/>
          <p:nvPr/>
        </p:nvSpPr>
        <p:spPr>
          <a:xfrm>
            <a:off x="4206240" y="235915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4206240" y="278892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Inventory Tracking</a:t>
            </a:r>
            <a:endParaRPr lang="en-US" sz="1200" dirty="0"/>
          </a:p>
        </p:txBody>
      </p:sp>
      <p:sp>
        <p:nvSpPr>
          <p:cNvPr id="17" name="Shape 15"/>
          <p:cNvSpPr/>
          <p:nvPr/>
        </p:nvSpPr>
        <p:spPr>
          <a:xfrm>
            <a:off x="6035040" y="2286000"/>
            <a:ext cx="1737360" cy="960120"/>
          </a:xfrm>
          <a:prstGeom prst="roundRect">
            <a:avLst>
              <a:gd name="adj" fmla="val 9524"/>
            </a:avLst>
          </a:prstGeom>
          <a:solidFill>
            <a:srgbClr val="F8FAFC"/>
          </a:solidFill>
          <a:ln w="19050">
            <a:solidFill>
              <a:srgbClr val="2E7D46"/>
            </a:solidFill>
            <a:prstDash val="solid"/>
          </a:ln>
        </p:spPr>
      </p:sp>
      <p:sp>
        <p:nvSpPr>
          <p:cNvPr id="18" name="Text 16"/>
          <p:cNvSpPr/>
          <p:nvPr/>
        </p:nvSpPr>
        <p:spPr>
          <a:xfrm>
            <a:off x="6035040" y="235915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6035040" y="278892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Expiry Alerts</a:t>
            </a:r>
            <a:endParaRPr lang="en-US" sz="1200" dirty="0"/>
          </a:p>
        </p:txBody>
      </p:sp>
      <p:sp>
        <p:nvSpPr>
          <p:cNvPr id="20" name="Shape 18"/>
          <p:cNvSpPr/>
          <p:nvPr/>
        </p:nvSpPr>
        <p:spPr>
          <a:xfrm>
            <a:off x="548640" y="3383280"/>
            <a:ext cx="1737360" cy="960120"/>
          </a:xfrm>
          <a:prstGeom prst="roundRect">
            <a:avLst>
              <a:gd name="adj" fmla="val 9524"/>
            </a:avLst>
          </a:prstGeom>
          <a:solidFill>
            <a:srgbClr val="F8FAFC"/>
          </a:solidFill>
          <a:ln w="19050">
            <a:solidFill>
              <a:srgbClr val="2E7D46"/>
            </a:solidFill>
            <a:prstDash val="solid"/>
          </a:ln>
        </p:spPr>
      </p:sp>
      <p:sp>
        <p:nvSpPr>
          <p:cNvPr id="21" name="Text 19"/>
          <p:cNvSpPr/>
          <p:nvPr/>
        </p:nvSpPr>
        <p:spPr>
          <a:xfrm>
            <a:off x="548640" y="345643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2" name="Text 20"/>
          <p:cNvSpPr/>
          <p:nvPr/>
        </p:nvSpPr>
        <p:spPr>
          <a:xfrm>
            <a:off x="548640" y="388620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Smart Shopping List</a:t>
            </a:r>
            <a:endParaRPr lang="en-US" sz="1200" dirty="0"/>
          </a:p>
        </p:txBody>
      </p:sp>
      <p:sp>
        <p:nvSpPr>
          <p:cNvPr id="23" name="Shape 21"/>
          <p:cNvSpPr/>
          <p:nvPr/>
        </p:nvSpPr>
        <p:spPr>
          <a:xfrm>
            <a:off x="2377440" y="3383280"/>
            <a:ext cx="1737360" cy="960120"/>
          </a:xfrm>
          <a:prstGeom prst="roundRect">
            <a:avLst>
              <a:gd name="adj" fmla="val 9524"/>
            </a:avLst>
          </a:prstGeom>
          <a:solidFill>
            <a:srgbClr val="F8FAFC"/>
          </a:solidFill>
          <a:ln w="19050">
            <a:solidFill>
              <a:srgbClr val="2E7D46"/>
            </a:solidFill>
            <a:prstDash val="solid"/>
          </a:ln>
        </p:spPr>
      </p:sp>
      <p:sp>
        <p:nvSpPr>
          <p:cNvPr id="24" name="Text 22"/>
          <p:cNvSpPr/>
          <p:nvPr/>
        </p:nvSpPr>
        <p:spPr>
          <a:xfrm>
            <a:off x="2377440" y="345643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5" name="Text 23"/>
          <p:cNvSpPr/>
          <p:nvPr/>
        </p:nvSpPr>
        <p:spPr>
          <a:xfrm>
            <a:off x="2377440" y="388620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Expense Tracker</a:t>
            </a:r>
            <a:endParaRPr lang="en-US" sz="1200" dirty="0"/>
          </a:p>
        </p:txBody>
      </p:sp>
      <p:sp>
        <p:nvSpPr>
          <p:cNvPr id="26" name="Shape 24"/>
          <p:cNvSpPr/>
          <p:nvPr/>
        </p:nvSpPr>
        <p:spPr>
          <a:xfrm>
            <a:off x="4206240" y="3383280"/>
            <a:ext cx="1737360" cy="960120"/>
          </a:xfrm>
          <a:prstGeom prst="roundRect">
            <a:avLst>
              <a:gd name="adj" fmla="val 9524"/>
            </a:avLst>
          </a:prstGeom>
          <a:solidFill>
            <a:srgbClr val="F8FAFC"/>
          </a:solidFill>
          <a:ln w="19050">
            <a:solidFill>
              <a:srgbClr val="2E7D46"/>
            </a:solidFill>
            <a:prstDash val="solid"/>
          </a:ln>
        </p:spPr>
      </p:sp>
      <p:sp>
        <p:nvSpPr>
          <p:cNvPr id="27" name="Text 25"/>
          <p:cNvSpPr/>
          <p:nvPr/>
        </p:nvSpPr>
        <p:spPr>
          <a:xfrm>
            <a:off x="4206240" y="345643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4206240" y="388620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Dashboard Analytics</a:t>
            </a:r>
            <a:endParaRPr lang="en-US" sz="1200" dirty="0"/>
          </a:p>
        </p:txBody>
      </p:sp>
      <p:sp>
        <p:nvSpPr>
          <p:cNvPr id="29" name="Shape 27"/>
          <p:cNvSpPr/>
          <p:nvPr/>
        </p:nvSpPr>
        <p:spPr>
          <a:xfrm>
            <a:off x="6035040" y="3383280"/>
            <a:ext cx="1737360" cy="960120"/>
          </a:xfrm>
          <a:prstGeom prst="roundRect">
            <a:avLst>
              <a:gd name="adj" fmla="val 9524"/>
            </a:avLst>
          </a:prstGeom>
          <a:solidFill>
            <a:srgbClr val="F8FAFC"/>
          </a:solidFill>
          <a:ln w="19050">
            <a:solidFill>
              <a:srgbClr val="2E7D46"/>
            </a:solidFill>
            <a:prstDash val="solid"/>
          </a:ln>
        </p:spPr>
      </p:sp>
      <p:sp>
        <p:nvSpPr>
          <p:cNvPr id="30" name="Text 28"/>
          <p:cNvSpPr/>
          <p:nvPr/>
        </p:nvSpPr>
        <p:spPr>
          <a:xfrm>
            <a:off x="6035040" y="3456432"/>
            <a:ext cx="1737360" cy="4572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1" name="Text 29"/>
          <p:cNvSpPr/>
          <p:nvPr/>
        </p:nvSpPr>
        <p:spPr>
          <a:xfrm>
            <a:off x="6035040" y="3886200"/>
            <a:ext cx="1737360" cy="411480"/>
          </a:xfrm>
          <a:prstGeom prst="rect">
            <a:avLst/>
          </a:prstGeom>
          <a:noFill/>
          <a:ln/>
        </p:spPr>
        <p:txBody>
          <a:bodyPr wrap="square" rtlCol="0" anchor="ctr"/>
          <a:lstStyle/>
          <a:p>
            <a:pPr marL="0" indent="0" algn="ctr">
              <a:buNone/>
            </a:pPr>
            <a:r>
              <a:rPr lang="en-US" sz="1200" b="1" dirty="0">
                <a:solidFill>
                  <a:srgbClr val="1F2937"/>
                </a:solidFill>
                <a:latin typeface="Poppins" pitchFamily="34" charset="0"/>
                <a:ea typeface="Poppins" pitchFamily="34" charset="-122"/>
                <a:cs typeface="Poppins" pitchFamily="34" charset="-120"/>
              </a:rPr>
              <a:t>AI Chatbot</a:t>
            </a:r>
            <a:endParaRPr lang="en-US" sz="1200" dirty="0"/>
          </a:p>
        </p:txBody>
      </p:sp>
      <p:sp>
        <p:nvSpPr>
          <p:cNvPr id="32" name="Shape 30"/>
          <p:cNvSpPr/>
          <p:nvPr/>
        </p:nvSpPr>
        <p:spPr>
          <a:xfrm>
            <a:off x="8138160" y="1828800"/>
            <a:ext cx="3520440" cy="4572000"/>
          </a:xfrm>
          <a:prstGeom prst="roundRect">
            <a:avLst>
              <a:gd name="adj" fmla="val 3896"/>
            </a:avLst>
          </a:prstGeom>
          <a:solidFill>
            <a:srgbClr val="2E7D46"/>
          </a:solidFill>
          <a:ln/>
        </p:spPr>
      </p:sp>
      <p:sp>
        <p:nvSpPr>
          <p:cNvPr id="33" name="Text 31"/>
          <p:cNvSpPr/>
          <p:nvPr/>
        </p:nvSpPr>
        <p:spPr>
          <a:xfrm>
            <a:off x="8321040" y="1965960"/>
            <a:ext cx="3200400" cy="457200"/>
          </a:xfrm>
          <a:prstGeom prst="rect">
            <a:avLst/>
          </a:prstGeom>
          <a:noFill/>
          <a:ln/>
        </p:spPr>
        <p:txBody>
          <a:bodyPr wrap="square" rtlCol="0" anchor="ctr"/>
          <a:lstStyle/>
          <a:p>
            <a:pPr marL="0" indent="0">
              <a:buNone/>
            </a:pPr>
            <a:r>
              <a:rPr lang="en-US" sz="2000" b="1" dirty="0">
                <a:solidFill>
                  <a:srgbClr val="FFFFFF"/>
                </a:solidFill>
                <a:latin typeface="Poppins" pitchFamily="34" charset="0"/>
                <a:ea typeface="Poppins" pitchFamily="34" charset="-122"/>
                <a:cs typeface="Poppins" pitchFamily="34" charset="-120"/>
              </a:rPr>
              <a:t>🤖  AI FEATURES</a:t>
            </a:r>
            <a:endParaRPr lang="en-US" sz="2000" dirty="0"/>
          </a:p>
        </p:txBody>
      </p:sp>
      <p:sp>
        <p:nvSpPr>
          <p:cNvPr id="34" name="Text 32"/>
          <p:cNvSpPr/>
          <p:nvPr/>
        </p:nvSpPr>
        <p:spPr>
          <a:xfrm>
            <a:off x="8321040" y="2377440"/>
            <a:ext cx="3200400" cy="274320"/>
          </a:xfrm>
          <a:prstGeom prst="rect">
            <a:avLst/>
          </a:prstGeom>
          <a:noFill/>
          <a:ln/>
        </p:spPr>
        <p:txBody>
          <a:bodyPr wrap="square" rtlCol="0" anchor="ctr"/>
          <a:lstStyle/>
          <a:p>
            <a:pPr marL="0" indent="0">
              <a:buNone/>
            </a:pPr>
            <a:r>
              <a:rPr lang="en-US" sz="1300" b="1" dirty="0">
                <a:solidFill>
                  <a:srgbClr val="FFF3E0"/>
                </a:solidFill>
                <a:latin typeface="Poppins" pitchFamily="34" charset="0"/>
                <a:ea typeface="Poppins" pitchFamily="34" charset="-122"/>
                <a:cs typeface="Poppins" pitchFamily="34" charset="-120"/>
              </a:rPr>
              <a:t>Powered by Gemini</a:t>
            </a:r>
            <a:endParaRPr lang="en-US" sz="1300" dirty="0"/>
          </a:p>
        </p:txBody>
      </p:sp>
      <p:sp>
        <p:nvSpPr>
          <p:cNvPr id="35" name="Shape 33"/>
          <p:cNvSpPr/>
          <p:nvPr/>
        </p:nvSpPr>
        <p:spPr>
          <a:xfrm>
            <a:off x="8321040" y="2697480"/>
            <a:ext cx="731520" cy="54864"/>
          </a:xfrm>
          <a:prstGeom prst="rect">
            <a:avLst/>
          </a:prstGeom>
          <a:solidFill>
            <a:srgbClr val="F57C1F"/>
          </a:solidFill>
          <a:ln/>
        </p:spPr>
      </p:sp>
      <p:sp>
        <p:nvSpPr>
          <p:cNvPr id="36" name="Shape 34"/>
          <p:cNvSpPr/>
          <p:nvPr/>
        </p:nvSpPr>
        <p:spPr>
          <a:xfrm>
            <a:off x="8321040" y="2880360"/>
            <a:ext cx="3246120" cy="548640"/>
          </a:xfrm>
          <a:prstGeom prst="roundRect">
            <a:avLst>
              <a:gd name="adj" fmla="val 13333"/>
            </a:avLst>
          </a:prstGeom>
          <a:solidFill>
            <a:srgbClr val="FFFFFF"/>
          </a:solidFill>
          <a:ln/>
        </p:spPr>
      </p:sp>
      <p:sp>
        <p:nvSpPr>
          <p:cNvPr id="37" name="Shape 35"/>
          <p:cNvSpPr/>
          <p:nvPr/>
        </p:nvSpPr>
        <p:spPr>
          <a:xfrm>
            <a:off x="8412480" y="3017520"/>
            <a:ext cx="274320" cy="274320"/>
          </a:xfrm>
          <a:prstGeom prst="ellipse">
            <a:avLst/>
          </a:prstGeom>
          <a:solidFill>
            <a:srgbClr val="F57C1F"/>
          </a:solidFill>
          <a:ln/>
        </p:spPr>
      </p:sp>
      <p:sp>
        <p:nvSpPr>
          <p:cNvPr id="38" name="Text 36"/>
          <p:cNvSpPr/>
          <p:nvPr/>
        </p:nvSpPr>
        <p:spPr>
          <a:xfrm>
            <a:off x="8778240" y="2880360"/>
            <a:ext cx="2743200" cy="548640"/>
          </a:xfrm>
          <a:prstGeom prst="rect">
            <a:avLst/>
          </a:prstGeom>
          <a:noFill/>
          <a:ln/>
        </p:spPr>
        <p:txBody>
          <a:bodyPr wrap="square" rtlCol="0" anchor="ctr"/>
          <a:lstStyle/>
          <a:p>
            <a:pPr marL="0" indent="0">
              <a:buNone/>
            </a:pPr>
            <a:r>
              <a:rPr lang="en-US" sz="1400" b="1" dirty="0">
                <a:solidFill>
                  <a:srgbClr val="1F2937"/>
                </a:solidFill>
                <a:latin typeface="Poppins" pitchFamily="34" charset="0"/>
                <a:ea typeface="Poppins" pitchFamily="34" charset="-122"/>
                <a:cs typeface="Poppins" pitchFamily="34" charset="-120"/>
              </a:rPr>
              <a:t>Recipe recommendations</a:t>
            </a:r>
            <a:endParaRPr lang="en-US" sz="1400" dirty="0"/>
          </a:p>
        </p:txBody>
      </p:sp>
      <p:sp>
        <p:nvSpPr>
          <p:cNvPr id="39" name="Shape 37"/>
          <p:cNvSpPr/>
          <p:nvPr/>
        </p:nvSpPr>
        <p:spPr>
          <a:xfrm>
            <a:off x="8321040" y="3538728"/>
            <a:ext cx="3246120" cy="548640"/>
          </a:xfrm>
          <a:prstGeom prst="roundRect">
            <a:avLst>
              <a:gd name="adj" fmla="val 13333"/>
            </a:avLst>
          </a:prstGeom>
          <a:solidFill>
            <a:srgbClr val="FFFFFF"/>
          </a:solidFill>
          <a:ln/>
        </p:spPr>
      </p:sp>
      <p:sp>
        <p:nvSpPr>
          <p:cNvPr id="40" name="Shape 38"/>
          <p:cNvSpPr/>
          <p:nvPr/>
        </p:nvSpPr>
        <p:spPr>
          <a:xfrm>
            <a:off x="8412480" y="3675888"/>
            <a:ext cx="274320" cy="274320"/>
          </a:xfrm>
          <a:prstGeom prst="ellipse">
            <a:avLst/>
          </a:prstGeom>
          <a:solidFill>
            <a:srgbClr val="F57C1F"/>
          </a:solidFill>
          <a:ln/>
        </p:spPr>
      </p:sp>
      <p:sp>
        <p:nvSpPr>
          <p:cNvPr id="41" name="Text 39"/>
          <p:cNvSpPr/>
          <p:nvPr/>
        </p:nvSpPr>
        <p:spPr>
          <a:xfrm>
            <a:off x="8778240" y="3538728"/>
            <a:ext cx="2743200" cy="548640"/>
          </a:xfrm>
          <a:prstGeom prst="rect">
            <a:avLst/>
          </a:prstGeom>
          <a:noFill/>
          <a:ln/>
        </p:spPr>
        <p:txBody>
          <a:bodyPr wrap="square" rtlCol="0" anchor="ctr"/>
          <a:lstStyle/>
          <a:p>
            <a:pPr marL="0" indent="0">
              <a:buNone/>
            </a:pPr>
            <a:r>
              <a:rPr lang="en-US" sz="1400" b="1" dirty="0">
                <a:solidFill>
                  <a:srgbClr val="1F2937"/>
                </a:solidFill>
                <a:latin typeface="Poppins" pitchFamily="34" charset="0"/>
                <a:ea typeface="Poppins" pitchFamily="34" charset="-122"/>
                <a:cs typeface="Poppins" pitchFamily="34" charset="-120"/>
              </a:rPr>
              <a:t>Expiry prediction</a:t>
            </a:r>
            <a:endParaRPr lang="en-US" sz="1400" dirty="0"/>
          </a:p>
        </p:txBody>
      </p:sp>
      <p:sp>
        <p:nvSpPr>
          <p:cNvPr id="42" name="Shape 40"/>
          <p:cNvSpPr/>
          <p:nvPr/>
        </p:nvSpPr>
        <p:spPr>
          <a:xfrm>
            <a:off x="8321040" y="4197096"/>
            <a:ext cx="3246120" cy="548640"/>
          </a:xfrm>
          <a:prstGeom prst="roundRect">
            <a:avLst>
              <a:gd name="adj" fmla="val 13333"/>
            </a:avLst>
          </a:prstGeom>
          <a:solidFill>
            <a:srgbClr val="FFFFFF"/>
          </a:solidFill>
          <a:ln/>
        </p:spPr>
      </p:sp>
      <p:sp>
        <p:nvSpPr>
          <p:cNvPr id="43" name="Shape 41"/>
          <p:cNvSpPr/>
          <p:nvPr/>
        </p:nvSpPr>
        <p:spPr>
          <a:xfrm>
            <a:off x="8412480" y="4334256"/>
            <a:ext cx="274320" cy="274320"/>
          </a:xfrm>
          <a:prstGeom prst="ellipse">
            <a:avLst/>
          </a:prstGeom>
          <a:solidFill>
            <a:srgbClr val="F57C1F"/>
          </a:solidFill>
          <a:ln/>
        </p:spPr>
      </p:sp>
      <p:sp>
        <p:nvSpPr>
          <p:cNvPr id="44" name="Text 42"/>
          <p:cNvSpPr/>
          <p:nvPr/>
        </p:nvSpPr>
        <p:spPr>
          <a:xfrm>
            <a:off x="8778240" y="4197096"/>
            <a:ext cx="2743200" cy="548640"/>
          </a:xfrm>
          <a:prstGeom prst="rect">
            <a:avLst/>
          </a:prstGeom>
          <a:noFill/>
          <a:ln/>
        </p:spPr>
        <p:txBody>
          <a:bodyPr wrap="square" rtlCol="0" anchor="ctr"/>
          <a:lstStyle/>
          <a:p>
            <a:pPr marL="0" indent="0">
              <a:buNone/>
            </a:pPr>
            <a:r>
              <a:rPr lang="en-US" sz="1400" b="1" dirty="0">
                <a:solidFill>
                  <a:srgbClr val="1F2937"/>
                </a:solidFill>
                <a:latin typeface="Poppins" pitchFamily="34" charset="0"/>
                <a:ea typeface="Poppins" pitchFamily="34" charset="-122"/>
                <a:cs typeface="Poppins" pitchFamily="34" charset="-120"/>
              </a:rPr>
              <a:t>Grocery suggestions</a:t>
            </a:r>
            <a:endParaRPr lang="en-US" sz="1400" dirty="0"/>
          </a:p>
        </p:txBody>
      </p:sp>
      <p:sp>
        <p:nvSpPr>
          <p:cNvPr id="45" name="Shape 43"/>
          <p:cNvSpPr/>
          <p:nvPr/>
        </p:nvSpPr>
        <p:spPr>
          <a:xfrm>
            <a:off x="8321040" y="4855464"/>
            <a:ext cx="3246120" cy="548640"/>
          </a:xfrm>
          <a:prstGeom prst="roundRect">
            <a:avLst>
              <a:gd name="adj" fmla="val 13333"/>
            </a:avLst>
          </a:prstGeom>
          <a:solidFill>
            <a:srgbClr val="FFFFFF"/>
          </a:solidFill>
          <a:ln/>
        </p:spPr>
      </p:sp>
      <p:sp>
        <p:nvSpPr>
          <p:cNvPr id="46" name="Shape 44"/>
          <p:cNvSpPr/>
          <p:nvPr/>
        </p:nvSpPr>
        <p:spPr>
          <a:xfrm>
            <a:off x="8412480" y="4992624"/>
            <a:ext cx="274320" cy="274320"/>
          </a:xfrm>
          <a:prstGeom prst="ellipse">
            <a:avLst/>
          </a:prstGeom>
          <a:solidFill>
            <a:srgbClr val="F57C1F"/>
          </a:solidFill>
          <a:ln/>
        </p:spPr>
      </p:sp>
      <p:sp>
        <p:nvSpPr>
          <p:cNvPr id="47" name="Text 45"/>
          <p:cNvSpPr/>
          <p:nvPr/>
        </p:nvSpPr>
        <p:spPr>
          <a:xfrm>
            <a:off x="8778240" y="4855464"/>
            <a:ext cx="2743200" cy="548640"/>
          </a:xfrm>
          <a:prstGeom prst="rect">
            <a:avLst/>
          </a:prstGeom>
          <a:noFill/>
          <a:ln/>
        </p:spPr>
        <p:txBody>
          <a:bodyPr wrap="square" rtlCol="0" anchor="ctr"/>
          <a:lstStyle/>
          <a:p>
            <a:pPr marL="0" indent="0">
              <a:buNone/>
            </a:pPr>
            <a:r>
              <a:rPr lang="en-US" sz="1400" b="1" dirty="0">
                <a:solidFill>
                  <a:srgbClr val="1F2937"/>
                </a:solidFill>
                <a:latin typeface="Poppins" pitchFamily="34" charset="0"/>
                <a:ea typeface="Poppins" pitchFamily="34" charset="-122"/>
                <a:cs typeface="Poppins" pitchFamily="34" charset="-120"/>
              </a:rPr>
              <a:t>Pantry-based chatbot</a:t>
            </a:r>
            <a:endParaRPr lang="en-US" sz="1400" dirty="0"/>
          </a:p>
        </p:txBody>
      </p:sp>
      <p:sp>
        <p:nvSpPr>
          <p:cNvPr id="48" name="Shape 46"/>
          <p:cNvSpPr/>
          <p:nvPr/>
        </p:nvSpPr>
        <p:spPr>
          <a:xfrm>
            <a:off x="8321040" y="5513832"/>
            <a:ext cx="3246120" cy="548640"/>
          </a:xfrm>
          <a:prstGeom prst="roundRect">
            <a:avLst>
              <a:gd name="adj" fmla="val 13333"/>
            </a:avLst>
          </a:prstGeom>
          <a:solidFill>
            <a:srgbClr val="FFFFFF"/>
          </a:solidFill>
          <a:ln/>
        </p:spPr>
      </p:sp>
      <p:sp>
        <p:nvSpPr>
          <p:cNvPr id="49" name="Shape 47"/>
          <p:cNvSpPr/>
          <p:nvPr/>
        </p:nvSpPr>
        <p:spPr>
          <a:xfrm>
            <a:off x="8412480" y="5650992"/>
            <a:ext cx="274320" cy="274320"/>
          </a:xfrm>
          <a:prstGeom prst="ellipse">
            <a:avLst/>
          </a:prstGeom>
          <a:solidFill>
            <a:srgbClr val="F57C1F"/>
          </a:solidFill>
          <a:ln/>
        </p:spPr>
      </p:sp>
      <p:sp>
        <p:nvSpPr>
          <p:cNvPr id="50" name="Text 48"/>
          <p:cNvSpPr/>
          <p:nvPr/>
        </p:nvSpPr>
        <p:spPr>
          <a:xfrm>
            <a:off x="8778240" y="5513832"/>
            <a:ext cx="2743200" cy="548640"/>
          </a:xfrm>
          <a:prstGeom prst="rect">
            <a:avLst/>
          </a:prstGeom>
          <a:noFill/>
          <a:ln/>
        </p:spPr>
        <p:txBody>
          <a:bodyPr wrap="square" rtlCol="0" anchor="ctr"/>
          <a:lstStyle/>
          <a:p>
            <a:pPr marL="0" indent="0">
              <a:buNone/>
            </a:pPr>
            <a:r>
              <a:rPr lang="en-US" sz="1400" b="1" dirty="0">
                <a:solidFill>
                  <a:srgbClr val="1F2937"/>
                </a:solidFill>
                <a:latin typeface="Poppins" pitchFamily="34" charset="0"/>
                <a:ea typeface="Poppins" pitchFamily="34" charset="-122"/>
                <a:cs typeface="Poppins" pitchFamily="34" charset="-120"/>
              </a:rPr>
              <a:t>Spending analysis</a:t>
            </a:r>
            <a:endParaRPr lang="en-US" sz="1400" dirty="0"/>
          </a:p>
        </p:txBody>
      </p:sp>
      <p:sp>
        <p:nvSpPr>
          <p:cNvPr id="51" name="Text 49"/>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52" name="Text 50"/>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5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06  •  PROCESS</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Workflow &amp; Database</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Text 5"/>
          <p:cNvSpPr/>
          <p:nvPr/>
        </p:nvSpPr>
        <p:spPr>
          <a:xfrm>
            <a:off x="548640" y="1828800"/>
            <a:ext cx="6858000" cy="365760"/>
          </a:xfrm>
          <a:prstGeom prst="rect">
            <a:avLst/>
          </a:prstGeom>
          <a:noFill/>
          <a:ln/>
        </p:spPr>
        <p:txBody>
          <a:bodyPr wrap="square" rtlCol="0" anchor="ctr"/>
          <a:lstStyle/>
          <a:p>
            <a:pPr marL="0" indent="0">
              <a:buNone/>
            </a:pPr>
            <a:r>
              <a:rPr lang="en-US" sz="1600" b="1" kern="0" spc="400" dirty="0">
                <a:solidFill>
                  <a:srgbClr val="2E7D46"/>
                </a:solidFill>
                <a:latin typeface="Poppins" pitchFamily="34" charset="0"/>
                <a:ea typeface="Poppins" pitchFamily="34" charset="-122"/>
                <a:cs typeface="Poppins" pitchFamily="34" charset="-120"/>
              </a:rPr>
              <a:t>USER WORKFLOW</a:t>
            </a:r>
            <a:endParaRPr lang="en-US" sz="1600" dirty="0"/>
          </a:p>
        </p:txBody>
      </p:sp>
      <p:sp>
        <p:nvSpPr>
          <p:cNvPr id="8" name="Shape 6"/>
          <p:cNvSpPr/>
          <p:nvPr/>
        </p:nvSpPr>
        <p:spPr>
          <a:xfrm>
            <a:off x="548640" y="2286000"/>
            <a:ext cx="3337560" cy="822960"/>
          </a:xfrm>
          <a:prstGeom prst="roundRect">
            <a:avLst>
              <a:gd name="adj" fmla="val 11111"/>
            </a:avLst>
          </a:prstGeom>
          <a:solidFill>
            <a:srgbClr val="FFFFFF"/>
          </a:solidFill>
          <a:ln w="25400">
            <a:solidFill>
              <a:srgbClr val="2E7D46"/>
            </a:solidFill>
            <a:prstDash val="solid"/>
          </a:ln>
        </p:spPr>
      </p:sp>
      <p:sp>
        <p:nvSpPr>
          <p:cNvPr id="9" name="Shape 7"/>
          <p:cNvSpPr/>
          <p:nvPr/>
        </p:nvSpPr>
        <p:spPr>
          <a:xfrm>
            <a:off x="685800" y="2468880"/>
            <a:ext cx="457200" cy="457200"/>
          </a:xfrm>
          <a:prstGeom prst="ellipse">
            <a:avLst/>
          </a:prstGeom>
          <a:solidFill>
            <a:srgbClr val="2E7D46"/>
          </a:solidFill>
          <a:ln/>
        </p:spPr>
      </p:sp>
      <p:sp>
        <p:nvSpPr>
          <p:cNvPr id="10" name="Text 8"/>
          <p:cNvSpPr/>
          <p:nvPr/>
        </p:nvSpPr>
        <p:spPr>
          <a:xfrm>
            <a:off x="685800" y="246888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1</a:t>
            </a:r>
            <a:endParaRPr lang="en-US" sz="1600" dirty="0"/>
          </a:p>
        </p:txBody>
      </p:sp>
      <p:sp>
        <p:nvSpPr>
          <p:cNvPr id="11" name="Text 9"/>
          <p:cNvSpPr/>
          <p:nvPr/>
        </p:nvSpPr>
        <p:spPr>
          <a:xfrm>
            <a:off x="1234440" y="228600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Register / Login</a:t>
            </a:r>
            <a:endParaRPr lang="en-US" sz="1600" dirty="0"/>
          </a:p>
        </p:txBody>
      </p:sp>
      <p:sp>
        <p:nvSpPr>
          <p:cNvPr id="12" name="Shape 10"/>
          <p:cNvSpPr/>
          <p:nvPr/>
        </p:nvSpPr>
        <p:spPr>
          <a:xfrm>
            <a:off x="4069080" y="2286000"/>
            <a:ext cx="3337560" cy="822960"/>
          </a:xfrm>
          <a:prstGeom prst="roundRect">
            <a:avLst>
              <a:gd name="adj" fmla="val 11111"/>
            </a:avLst>
          </a:prstGeom>
          <a:solidFill>
            <a:srgbClr val="FFFFFF"/>
          </a:solidFill>
          <a:ln w="25400">
            <a:solidFill>
              <a:srgbClr val="F57C1F"/>
            </a:solidFill>
            <a:prstDash val="solid"/>
          </a:ln>
        </p:spPr>
      </p:sp>
      <p:sp>
        <p:nvSpPr>
          <p:cNvPr id="13" name="Shape 11"/>
          <p:cNvSpPr/>
          <p:nvPr/>
        </p:nvSpPr>
        <p:spPr>
          <a:xfrm>
            <a:off x="4206240" y="2468880"/>
            <a:ext cx="457200" cy="457200"/>
          </a:xfrm>
          <a:prstGeom prst="ellipse">
            <a:avLst/>
          </a:prstGeom>
          <a:solidFill>
            <a:srgbClr val="F57C1F"/>
          </a:solidFill>
          <a:ln/>
        </p:spPr>
      </p:sp>
      <p:sp>
        <p:nvSpPr>
          <p:cNvPr id="14" name="Text 12"/>
          <p:cNvSpPr/>
          <p:nvPr/>
        </p:nvSpPr>
        <p:spPr>
          <a:xfrm>
            <a:off x="4206240" y="246888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2</a:t>
            </a:r>
            <a:endParaRPr lang="en-US" sz="1600" dirty="0"/>
          </a:p>
        </p:txBody>
      </p:sp>
      <p:sp>
        <p:nvSpPr>
          <p:cNvPr id="15" name="Text 13"/>
          <p:cNvSpPr/>
          <p:nvPr/>
        </p:nvSpPr>
        <p:spPr>
          <a:xfrm>
            <a:off x="4754880" y="228600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Add Grocery Items</a:t>
            </a:r>
            <a:endParaRPr lang="en-US" sz="1600" dirty="0"/>
          </a:p>
        </p:txBody>
      </p:sp>
      <p:sp>
        <p:nvSpPr>
          <p:cNvPr id="16" name="Shape 14"/>
          <p:cNvSpPr/>
          <p:nvPr/>
        </p:nvSpPr>
        <p:spPr>
          <a:xfrm>
            <a:off x="548640" y="3246120"/>
            <a:ext cx="3337560" cy="822960"/>
          </a:xfrm>
          <a:prstGeom prst="roundRect">
            <a:avLst>
              <a:gd name="adj" fmla="val 11111"/>
            </a:avLst>
          </a:prstGeom>
          <a:solidFill>
            <a:srgbClr val="FFFFFF"/>
          </a:solidFill>
          <a:ln w="25400">
            <a:solidFill>
              <a:srgbClr val="2E7D46"/>
            </a:solidFill>
            <a:prstDash val="solid"/>
          </a:ln>
        </p:spPr>
      </p:sp>
      <p:sp>
        <p:nvSpPr>
          <p:cNvPr id="17" name="Shape 15"/>
          <p:cNvSpPr/>
          <p:nvPr/>
        </p:nvSpPr>
        <p:spPr>
          <a:xfrm>
            <a:off x="685800" y="3429000"/>
            <a:ext cx="457200" cy="457200"/>
          </a:xfrm>
          <a:prstGeom prst="ellipse">
            <a:avLst/>
          </a:prstGeom>
          <a:solidFill>
            <a:srgbClr val="2E7D46"/>
          </a:solidFill>
          <a:ln/>
        </p:spPr>
      </p:sp>
      <p:sp>
        <p:nvSpPr>
          <p:cNvPr id="18" name="Text 16"/>
          <p:cNvSpPr/>
          <p:nvPr/>
        </p:nvSpPr>
        <p:spPr>
          <a:xfrm>
            <a:off x="685800" y="342900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3</a:t>
            </a:r>
            <a:endParaRPr lang="en-US" sz="1600" dirty="0"/>
          </a:p>
        </p:txBody>
      </p:sp>
      <p:sp>
        <p:nvSpPr>
          <p:cNvPr id="19" name="Text 17"/>
          <p:cNvSpPr/>
          <p:nvPr/>
        </p:nvSpPr>
        <p:spPr>
          <a:xfrm>
            <a:off x="1234440" y="324612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Store in MongoDB</a:t>
            </a:r>
            <a:endParaRPr lang="en-US" sz="1600" dirty="0"/>
          </a:p>
        </p:txBody>
      </p:sp>
      <p:sp>
        <p:nvSpPr>
          <p:cNvPr id="20" name="Shape 18"/>
          <p:cNvSpPr/>
          <p:nvPr/>
        </p:nvSpPr>
        <p:spPr>
          <a:xfrm>
            <a:off x="4069080" y="3246120"/>
            <a:ext cx="3337560" cy="822960"/>
          </a:xfrm>
          <a:prstGeom prst="roundRect">
            <a:avLst>
              <a:gd name="adj" fmla="val 11111"/>
            </a:avLst>
          </a:prstGeom>
          <a:solidFill>
            <a:srgbClr val="FFFFFF"/>
          </a:solidFill>
          <a:ln w="25400">
            <a:solidFill>
              <a:srgbClr val="F57C1F"/>
            </a:solidFill>
            <a:prstDash val="solid"/>
          </a:ln>
        </p:spPr>
      </p:sp>
      <p:sp>
        <p:nvSpPr>
          <p:cNvPr id="21" name="Shape 19"/>
          <p:cNvSpPr/>
          <p:nvPr/>
        </p:nvSpPr>
        <p:spPr>
          <a:xfrm>
            <a:off x="4206240" y="3429000"/>
            <a:ext cx="457200" cy="457200"/>
          </a:xfrm>
          <a:prstGeom prst="ellipse">
            <a:avLst/>
          </a:prstGeom>
          <a:solidFill>
            <a:srgbClr val="F57C1F"/>
          </a:solidFill>
          <a:ln/>
        </p:spPr>
      </p:sp>
      <p:sp>
        <p:nvSpPr>
          <p:cNvPr id="22" name="Text 20"/>
          <p:cNvSpPr/>
          <p:nvPr/>
        </p:nvSpPr>
        <p:spPr>
          <a:xfrm>
            <a:off x="4206240" y="342900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4</a:t>
            </a:r>
            <a:endParaRPr lang="en-US" sz="1600" dirty="0"/>
          </a:p>
        </p:txBody>
      </p:sp>
      <p:sp>
        <p:nvSpPr>
          <p:cNvPr id="23" name="Text 21"/>
          <p:cNvSpPr/>
          <p:nvPr/>
        </p:nvSpPr>
        <p:spPr>
          <a:xfrm>
            <a:off x="4754880" y="324612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AI Analysis</a:t>
            </a:r>
            <a:endParaRPr lang="en-US" sz="1600" dirty="0"/>
          </a:p>
        </p:txBody>
      </p:sp>
      <p:sp>
        <p:nvSpPr>
          <p:cNvPr id="24" name="Shape 22"/>
          <p:cNvSpPr/>
          <p:nvPr/>
        </p:nvSpPr>
        <p:spPr>
          <a:xfrm>
            <a:off x="548640" y="4206240"/>
            <a:ext cx="3337560" cy="822960"/>
          </a:xfrm>
          <a:prstGeom prst="roundRect">
            <a:avLst>
              <a:gd name="adj" fmla="val 11111"/>
            </a:avLst>
          </a:prstGeom>
          <a:solidFill>
            <a:srgbClr val="FFFFFF"/>
          </a:solidFill>
          <a:ln w="25400">
            <a:solidFill>
              <a:srgbClr val="2E7D46"/>
            </a:solidFill>
            <a:prstDash val="solid"/>
          </a:ln>
        </p:spPr>
      </p:sp>
      <p:sp>
        <p:nvSpPr>
          <p:cNvPr id="25" name="Shape 23"/>
          <p:cNvSpPr/>
          <p:nvPr/>
        </p:nvSpPr>
        <p:spPr>
          <a:xfrm>
            <a:off x="685800" y="4389120"/>
            <a:ext cx="457200" cy="457200"/>
          </a:xfrm>
          <a:prstGeom prst="ellipse">
            <a:avLst/>
          </a:prstGeom>
          <a:solidFill>
            <a:srgbClr val="2E7D46"/>
          </a:solidFill>
          <a:ln/>
        </p:spPr>
      </p:sp>
      <p:sp>
        <p:nvSpPr>
          <p:cNvPr id="26" name="Text 24"/>
          <p:cNvSpPr/>
          <p:nvPr/>
        </p:nvSpPr>
        <p:spPr>
          <a:xfrm>
            <a:off x="685800" y="438912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5</a:t>
            </a:r>
            <a:endParaRPr lang="en-US" sz="1600" dirty="0"/>
          </a:p>
        </p:txBody>
      </p:sp>
      <p:sp>
        <p:nvSpPr>
          <p:cNvPr id="27" name="Text 25"/>
          <p:cNvSpPr/>
          <p:nvPr/>
        </p:nvSpPr>
        <p:spPr>
          <a:xfrm>
            <a:off x="1234440" y="420624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Expiry Alerts</a:t>
            </a:r>
            <a:endParaRPr lang="en-US" sz="1600" dirty="0"/>
          </a:p>
        </p:txBody>
      </p:sp>
      <p:sp>
        <p:nvSpPr>
          <p:cNvPr id="28" name="Shape 26"/>
          <p:cNvSpPr/>
          <p:nvPr/>
        </p:nvSpPr>
        <p:spPr>
          <a:xfrm>
            <a:off x="4069080" y="4206240"/>
            <a:ext cx="3337560" cy="822960"/>
          </a:xfrm>
          <a:prstGeom prst="roundRect">
            <a:avLst>
              <a:gd name="adj" fmla="val 11111"/>
            </a:avLst>
          </a:prstGeom>
          <a:solidFill>
            <a:srgbClr val="FFFFFF"/>
          </a:solidFill>
          <a:ln w="25400">
            <a:solidFill>
              <a:srgbClr val="F57C1F"/>
            </a:solidFill>
            <a:prstDash val="solid"/>
          </a:ln>
        </p:spPr>
      </p:sp>
      <p:sp>
        <p:nvSpPr>
          <p:cNvPr id="29" name="Shape 27"/>
          <p:cNvSpPr/>
          <p:nvPr/>
        </p:nvSpPr>
        <p:spPr>
          <a:xfrm>
            <a:off x="4206240" y="4389120"/>
            <a:ext cx="457200" cy="457200"/>
          </a:xfrm>
          <a:prstGeom prst="ellipse">
            <a:avLst/>
          </a:prstGeom>
          <a:solidFill>
            <a:srgbClr val="F57C1F"/>
          </a:solidFill>
          <a:ln/>
        </p:spPr>
      </p:sp>
      <p:sp>
        <p:nvSpPr>
          <p:cNvPr id="30" name="Text 28"/>
          <p:cNvSpPr/>
          <p:nvPr/>
        </p:nvSpPr>
        <p:spPr>
          <a:xfrm>
            <a:off x="4206240" y="438912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6</a:t>
            </a:r>
            <a:endParaRPr lang="en-US" sz="1600" dirty="0"/>
          </a:p>
        </p:txBody>
      </p:sp>
      <p:sp>
        <p:nvSpPr>
          <p:cNvPr id="31" name="Text 29"/>
          <p:cNvSpPr/>
          <p:nvPr/>
        </p:nvSpPr>
        <p:spPr>
          <a:xfrm>
            <a:off x="4754880" y="420624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Recipe Suggestions</a:t>
            </a:r>
            <a:endParaRPr lang="en-US" sz="1600" dirty="0"/>
          </a:p>
        </p:txBody>
      </p:sp>
      <p:sp>
        <p:nvSpPr>
          <p:cNvPr id="32" name="Shape 30"/>
          <p:cNvSpPr/>
          <p:nvPr/>
        </p:nvSpPr>
        <p:spPr>
          <a:xfrm>
            <a:off x="548640" y="5166360"/>
            <a:ext cx="3337560" cy="822960"/>
          </a:xfrm>
          <a:prstGeom prst="roundRect">
            <a:avLst>
              <a:gd name="adj" fmla="val 11111"/>
            </a:avLst>
          </a:prstGeom>
          <a:solidFill>
            <a:srgbClr val="FFFFFF"/>
          </a:solidFill>
          <a:ln w="25400">
            <a:solidFill>
              <a:srgbClr val="2E7D46"/>
            </a:solidFill>
            <a:prstDash val="solid"/>
          </a:ln>
        </p:spPr>
      </p:sp>
      <p:sp>
        <p:nvSpPr>
          <p:cNvPr id="33" name="Shape 31"/>
          <p:cNvSpPr/>
          <p:nvPr/>
        </p:nvSpPr>
        <p:spPr>
          <a:xfrm>
            <a:off x="685800" y="5349240"/>
            <a:ext cx="457200" cy="457200"/>
          </a:xfrm>
          <a:prstGeom prst="ellipse">
            <a:avLst/>
          </a:prstGeom>
          <a:solidFill>
            <a:srgbClr val="2E7D46"/>
          </a:solidFill>
          <a:ln/>
        </p:spPr>
      </p:sp>
      <p:sp>
        <p:nvSpPr>
          <p:cNvPr id="34" name="Text 32"/>
          <p:cNvSpPr/>
          <p:nvPr/>
        </p:nvSpPr>
        <p:spPr>
          <a:xfrm>
            <a:off x="685800" y="534924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7</a:t>
            </a:r>
            <a:endParaRPr lang="en-US" sz="1600" dirty="0"/>
          </a:p>
        </p:txBody>
      </p:sp>
      <p:sp>
        <p:nvSpPr>
          <p:cNvPr id="35" name="Text 33"/>
          <p:cNvSpPr/>
          <p:nvPr/>
        </p:nvSpPr>
        <p:spPr>
          <a:xfrm>
            <a:off x="1234440" y="516636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Shopping Recommendations</a:t>
            </a:r>
            <a:endParaRPr lang="en-US" sz="1600" dirty="0"/>
          </a:p>
        </p:txBody>
      </p:sp>
      <p:sp>
        <p:nvSpPr>
          <p:cNvPr id="36" name="Shape 34"/>
          <p:cNvSpPr/>
          <p:nvPr/>
        </p:nvSpPr>
        <p:spPr>
          <a:xfrm>
            <a:off x="4069080" y="5166360"/>
            <a:ext cx="3337560" cy="822960"/>
          </a:xfrm>
          <a:prstGeom prst="roundRect">
            <a:avLst>
              <a:gd name="adj" fmla="val 11111"/>
            </a:avLst>
          </a:prstGeom>
          <a:solidFill>
            <a:srgbClr val="FFFFFF"/>
          </a:solidFill>
          <a:ln w="25400">
            <a:solidFill>
              <a:srgbClr val="F57C1F"/>
            </a:solidFill>
            <a:prstDash val="solid"/>
          </a:ln>
        </p:spPr>
      </p:sp>
      <p:sp>
        <p:nvSpPr>
          <p:cNvPr id="37" name="Shape 35"/>
          <p:cNvSpPr/>
          <p:nvPr/>
        </p:nvSpPr>
        <p:spPr>
          <a:xfrm>
            <a:off x="4206240" y="5349240"/>
            <a:ext cx="457200" cy="457200"/>
          </a:xfrm>
          <a:prstGeom prst="ellipse">
            <a:avLst/>
          </a:prstGeom>
          <a:solidFill>
            <a:srgbClr val="F57C1F"/>
          </a:solidFill>
          <a:ln/>
        </p:spPr>
      </p:sp>
      <p:sp>
        <p:nvSpPr>
          <p:cNvPr id="38" name="Text 36"/>
          <p:cNvSpPr/>
          <p:nvPr/>
        </p:nvSpPr>
        <p:spPr>
          <a:xfrm>
            <a:off x="4206240" y="5349240"/>
            <a:ext cx="457200" cy="457200"/>
          </a:xfrm>
          <a:prstGeom prst="rect">
            <a:avLst/>
          </a:prstGeom>
          <a:noFill/>
          <a:ln/>
        </p:spPr>
        <p:txBody>
          <a:bodyPr wrap="square" rtlCol="0" anchor="ctr"/>
          <a:lstStyle/>
          <a:p>
            <a:pPr marL="0" indent="0" algn="ctr">
              <a:buNone/>
            </a:pPr>
            <a:r>
              <a:rPr lang="en-US" sz="1600" b="1" dirty="0">
                <a:solidFill>
                  <a:srgbClr val="FFFFFF"/>
                </a:solidFill>
                <a:latin typeface="Poppins" pitchFamily="34" charset="0"/>
                <a:ea typeface="Poppins" pitchFamily="34" charset="-122"/>
                <a:cs typeface="Poppins" pitchFamily="34" charset="-120"/>
              </a:rPr>
              <a:t>8</a:t>
            </a:r>
            <a:endParaRPr lang="en-US" sz="1600" dirty="0"/>
          </a:p>
        </p:txBody>
      </p:sp>
      <p:sp>
        <p:nvSpPr>
          <p:cNvPr id="39" name="Text 37"/>
          <p:cNvSpPr/>
          <p:nvPr/>
        </p:nvSpPr>
        <p:spPr>
          <a:xfrm>
            <a:off x="4754880" y="5166360"/>
            <a:ext cx="2560320" cy="82296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Analytics Dashboard</a:t>
            </a:r>
            <a:endParaRPr lang="en-US" sz="1600" dirty="0"/>
          </a:p>
        </p:txBody>
      </p:sp>
      <p:sp>
        <p:nvSpPr>
          <p:cNvPr id="40" name="Text 38"/>
          <p:cNvSpPr/>
          <p:nvPr/>
        </p:nvSpPr>
        <p:spPr>
          <a:xfrm>
            <a:off x="7818120" y="1828800"/>
            <a:ext cx="384048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DATABASE COLLECTIONS</a:t>
            </a:r>
            <a:endParaRPr lang="en-US" sz="1600" dirty="0"/>
          </a:p>
        </p:txBody>
      </p:sp>
      <p:sp>
        <p:nvSpPr>
          <p:cNvPr id="41" name="Shape 39"/>
          <p:cNvSpPr/>
          <p:nvPr/>
        </p:nvSpPr>
        <p:spPr>
          <a:xfrm>
            <a:off x="7818120" y="2286000"/>
            <a:ext cx="3840480" cy="822960"/>
          </a:xfrm>
          <a:prstGeom prst="roundRect">
            <a:avLst>
              <a:gd name="adj" fmla="val 11111"/>
            </a:avLst>
          </a:prstGeom>
          <a:solidFill>
            <a:srgbClr val="E8F5E9"/>
          </a:solidFill>
          <a:ln w="19050">
            <a:solidFill>
              <a:srgbClr val="2E7D46"/>
            </a:solidFill>
            <a:prstDash val="solid"/>
          </a:ln>
        </p:spPr>
      </p:sp>
      <p:sp>
        <p:nvSpPr>
          <p:cNvPr id="42" name="Text 40"/>
          <p:cNvSpPr/>
          <p:nvPr/>
        </p:nvSpPr>
        <p:spPr>
          <a:xfrm>
            <a:off x="7955280" y="2286000"/>
            <a:ext cx="73152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43" name="Text 41"/>
          <p:cNvSpPr/>
          <p:nvPr/>
        </p:nvSpPr>
        <p:spPr>
          <a:xfrm>
            <a:off x="8732520" y="2286000"/>
            <a:ext cx="2834640" cy="822960"/>
          </a:xfrm>
          <a:prstGeom prst="rect">
            <a:avLst/>
          </a:prstGeom>
          <a:noFill/>
          <a:ln/>
        </p:spPr>
        <p:txBody>
          <a:bodyPr wrap="square" rtlCol="0" anchor="ctr"/>
          <a:lstStyle/>
          <a:p>
            <a:pPr marL="0" indent="0">
              <a:buNone/>
            </a:pPr>
            <a:r>
              <a:rPr lang="en-US" sz="1800" b="1" dirty="0">
                <a:solidFill>
                  <a:srgbClr val="1B5E20"/>
                </a:solidFill>
                <a:latin typeface="Poppins" pitchFamily="34" charset="0"/>
                <a:ea typeface="Poppins" pitchFamily="34" charset="-122"/>
                <a:cs typeface="Poppins" pitchFamily="34" charset="-120"/>
              </a:rPr>
              <a:t>Users</a:t>
            </a:r>
            <a:endParaRPr lang="en-US" sz="1800" dirty="0"/>
          </a:p>
        </p:txBody>
      </p:sp>
      <p:sp>
        <p:nvSpPr>
          <p:cNvPr id="44" name="Shape 42"/>
          <p:cNvSpPr/>
          <p:nvPr/>
        </p:nvSpPr>
        <p:spPr>
          <a:xfrm>
            <a:off x="7818120" y="3246120"/>
            <a:ext cx="3840480" cy="822960"/>
          </a:xfrm>
          <a:prstGeom prst="roundRect">
            <a:avLst>
              <a:gd name="adj" fmla="val 11111"/>
            </a:avLst>
          </a:prstGeom>
          <a:solidFill>
            <a:srgbClr val="E8F5E9"/>
          </a:solidFill>
          <a:ln w="19050">
            <a:solidFill>
              <a:srgbClr val="2E7D46"/>
            </a:solidFill>
            <a:prstDash val="solid"/>
          </a:ln>
        </p:spPr>
      </p:sp>
      <p:sp>
        <p:nvSpPr>
          <p:cNvPr id="45" name="Text 43"/>
          <p:cNvSpPr/>
          <p:nvPr/>
        </p:nvSpPr>
        <p:spPr>
          <a:xfrm>
            <a:off x="7955280" y="3246120"/>
            <a:ext cx="73152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46" name="Text 44"/>
          <p:cNvSpPr/>
          <p:nvPr/>
        </p:nvSpPr>
        <p:spPr>
          <a:xfrm>
            <a:off x="8732520" y="3246120"/>
            <a:ext cx="2834640" cy="822960"/>
          </a:xfrm>
          <a:prstGeom prst="rect">
            <a:avLst/>
          </a:prstGeom>
          <a:noFill/>
          <a:ln/>
        </p:spPr>
        <p:txBody>
          <a:bodyPr wrap="square" rtlCol="0" anchor="ctr"/>
          <a:lstStyle/>
          <a:p>
            <a:pPr marL="0" indent="0">
              <a:buNone/>
            </a:pPr>
            <a:r>
              <a:rPr lang="en-US" sz="1800" b="1" dirty="0">
                <a:solidFill>
                  <a:srgbClr val="1B5E20"/>
                </a:solidFill>
                <a:latin typeface="Poppins" pitchFamily="34" charset="0"/>
                <a:ea typeface="Poppins" pitchFamily="34" charset="-122"/>
                <a:cs typeface="Poppins" pitchFamily="34" charset="-120"/>
              </a:rPr>
              <a:t>Pantry Items</a:t>
            </a:r>
            <a:endParaRPr lang="en-US" sz="1800" dirty="0"/>
          </a:p>
        </p:txBody>
      </p:sp>
      <p:sp>
        <p:nvSpPr>
          <p:cNvPr id="47" name="Shape 45"/>
          <p:cNvSpPr/>
          <p:nvPr/>
        </p:nvSpPr>
        <p:spPr>
          <a:xfrm>
            <a:off x="7818120" y="4206240"/>
            <a:ext cx="3840480" cy="822960"/>
          </a:xfrm>
          <a:prstGeom prst="roundRect">
            <a:avLst>
              <a:gd name="adj" fmla="val 11111"/>
            </a:avLst>
          </a:prstGeom>
          <a:solidFill>
            <a:srgbClr val="E8F5E9"/>
          </a:solidFill>
          <a:ln w="19050">
            <a:solidFill>
              <a:srgbClr val="2E7D46"/>
            </a:solidFill>
            <a:prstDash val="solid"/>
          </a:ln>
        </p:spPr>
      </p:sp>
      <p:sp>
        <p:nvSpPr>
          <p:cNvPr id="48" name="Text 46"/>
          <p:cNvSpPr/>
          <p:nvPr/>
        </p:nvSpPr>
        <p:spPr>
          <a:xfrm>
            <a:off x="7955280" y="4206240"/>
            <a:ext cx="73152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49" name="Text 47"/>
          <p:cNvSpPr/>
          <p:nvPr/>
        </p:nvSpPr>
        <p:spPr>
          <a:xfrm>
            <a:off x="8732520" y="4206240"/>
            <a:ext cx="2834640" cy="822960"/>
          </a:xfrm>
          <a:prstGeom prst="rect">
            <a:avLst/>
          </a:prstGeom>
          <a:noFill/>
          <a:ln/>
        </p:spPr>
        <p:txBody>
          <a:bodyPr wrap="square" rtlCol="0" anchor="ctr"/>
          <a:lstStyle/>
          <a:p>
            <a:pPr marL="0" indent="0">
              <a:buNone/>
            </a:pPr>
            <a:r>
              <a:rPr lang="en-US" sz="1800" b="1" dirty="0">
                <a:solidFill>
                  <a:srgbClr val="1B5E20"/>
                </a:solidFill>
                <a:latin typeface="Poppins" pitchFamily="34" charset="0"/>
                <a:ea typeface="Poppins" pitchFamily="34" charset="-122"/>
                <a:cs typeface="Poppins" pitchFamily="34" charset="-120"/>
              </a:rPr>
              <a:t>Shopping List</a:t>
            </a:r>
            <a:endParaRPr lang="en-US" sz="1800" dirty="0"/>
          </a:p>
        </p:txBody>
      </p:sp>
      <p:sp>
        <p:nvSpPr>
          <p:cNvPr id="50" name="Shape 48"/>
          <p:cNvSpPr/>
          <p:nvPr/>
        </p:nvSpPr>
        <p:spPr>
          <a:xfrm>
            <a:off x="7818120" y="5166360"/>
            <a:ext cx="3840480" cy="822960"/>
          </a:xfrm>
          <a:prstGeom prst="roundRect">
            <a:avLst>
              <a:gd name="adj" fmla="val 11111"/>
            </a:avLst>
          </a:prstGeom>
          <a:solidFill>
            <a:srgbClr val="E8F5E9"/>
          </a:solidFill>
          <a:ln w="19050">
            <a:solidFill>
              <a:srgbClr val="2E7D46"/>
            </a:solidFill>
            <a:prstDash val="solid"/>
          </a:ln>
        </p:spPr>
      </p:sp>
      <p:sp>
        <p:nvSpPr>
          <p:cNvPr id="51" name="Text 49"/>
          <p:cNvSpPr/>
          <p:nvPr/>
        </p:nvSpPr>
        <p:spPr>
          <a:xfrm>
            <a:off x="7955280" y="5166360"/>
            <a:ext cx="73152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52" name="Text 50"/>
          <p:cNvSpPr/>
          <p:nvPr/>
        </p:nvSpPr>
        <p:spPr>
          <a:xfrm>
            <a:off x="8732520" y="5166360"/>
            <a:ext cx="2834640" cy="822960"/>
          </a:xfrm>
          <a:prstGeom prst="rect">
            <a:avLst/>
          </a:prstGeom>
          <a:noFill/>
          <a:ln/>
        </p:spPr>
        <p:txBody>
          <a:bodyPr wrap="square" rtlCol="0" anchor="ctr"/>
          <a:lstStyle/>
          <a:p>
            <a:pPr marL="0" indent="0">
              <a:buNone/>
            </a:pPr>
            <a:r>
              <a:rPr lang="en-US" sz="1800" b="1" dirty="0">
                <a:solidFill>
                  <a:srgbClr val="1B5E20"/>
                </a:solidFill>
                <a:latin typeface="Poppins" pitchFamily="34" charset="0"/>
                <a:ea typeface="Poppins" pitchFamily="34" charset="-122"/>
                <a:cs typeface="Poppins" pitchFamily="34" charset="-120"/>
              </a:rPr>
              <a:t>Notifications</a:t>
            </a:r>
            <a:endParaRPr lang="en-US" sz="1800" dirty="0"/>
          </a:p>
        </p:txBody>
      </p:sp>
      <p:sp>
        <p:nvSpPr>
          <p:cNvPr id="53" name="Text 51"/>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54" name="Text 52"/>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320040"/>
            <a:ext cx="10972800" cy="365760"/>
          </a:xfrm>
          <a:prstGeom prst="rect">
            <a:avLst/>
          </a:prstGeom>
          <a:noFill/>
          <a:ln/>
        </p:spPr>
        <p:txBody>
          <a:bodyPr wrap="square" rtlCol="0" anchor="ctr"/>
          <a:lstStyle/>
          <a:p>
            <a:pPr marL="0" indent="0">
              <a:buNone/>
            </a:pPr>
            <a:r>
              <a:rPr lang="en-US" sz="1600" b="1" kern="0" spc="400" dirty="0">
                <a:solidFill>
                  <a:srgbClr val="F57C1F"/>
                </a:solidFill>
                <a:latin typeface="Poppins" pitchFamily="34" charset="0"/>
                <a:ea typeface="Poppins" pitchFamily="34" charset="-122"/>
                <a:cs typeface="Poppins" pitchFamily="34" charset="-120"/>
              </a:rPr>
              <a:t>SLIDE 07  •  IMPACT</a:t>
            </a:r>
            <a:endParaRPr lang="en-US" sz="1600" dirty="0"/>
          </a:p>
        </p:txBody>
      </p:sp>
      <p:sp>
        <p:nvSpPr>
          <p:cNvPr id="5" name="Text 3"/>
          <p:cNvSpPr/>
          <p:nvPr/>
        </p:nvSpPr>
        <p:spPr>
          <a:xfrm>
            <a:off x="548640" y="640080"/>
            <a:ext cx="10972800" cy="731520"/>
          </a:xfrm>
          <a:prstGeom prst="rect">
            <a:avLst/>
          </a:prstGeom>
          <a:noFill/>
          <a:ln/>
        </p:spPr>
        <p:txBody>
          <a:bodyPr wrap="square" rtlCol="0" anchor="ctr"/>
          <a:lstStyle/>
          <a:p>
            <a:pPr marL="0" indent="0">
              <a:buNone/>
            </a:pPr>
            <a:r>
              <a:rPr lang="en-US" sz="3800" b="1" dirty="0">
                <a:solidFill>
                  <a:srgbClr val="1F2937"/>
                </a:solidFill>
                <a:latin typeface="Poppins" pitchFamily="34" charset="0"/>
                <a:ea typeface="Poppins" pitchFamily="34" charset="-122"/>
                <a:cs typeface="Poppins" pitchFamily="34" charset="-120"/>
              </a:rPr>
              <a:t>Advantages &amp; Future Enhancements</a:t>
            </a:r>
            <a:endParaRPr lang="en-US" sz="3800" dirty="0"/>
          </a:p>
        </p:txBody>
      </p:sp>
      <p:sp>
        <p:nvSpPr>
          <p:cNvPr id="6" name="Shape 4"/>
          <p:cNvSpPr/>
          <p:nvPr/>
        </p:nvSpPr>
        <p:spPr>
          <a:xfrm>
            <a:off x="548640" y="1417320"/>
            <a:ext cx="914400" cy="73152"/>
          </a:xfrm>
          <a:prstGeom prst="rect">
            <a:avLst/>
          </a:prstGeom>
          <a:solidFill>
            <a:srgbClr val="2E7D46"/>
          </a:solidFill>
          <a:ln/>
        </p:spPr>
      </p:sp>
      <p:sp>
        <p:nvSpPr>
          <p:cNvPr id="7" name="Shape 5"/>
          <p:cNvSpPr/>
          <p:nvPr/>
        </p:nvSpPr>
        <p:spPr>
          <a:xfrm>
            <a:off x="548640" y="1828800"/>
            <a:ext cx="5486400" cy="4572000"/>
          </a:xfrm>
          <a:prstGeom prst="roundRect">
            <a:avLst>
              <a:gd name="adj" fmla="val 3000"/>
            </a:avLst>
          </a:prstGeom>
          <a:solidFill>
            <a:srgbClr val="E8F5E9"/>
          </a:solidFill>
          <a:ln/>
        </p:spPr>
      </p:sp>
      <p:sp>
        <p:nvSpPr>
          <p:cNvPr id="8" name="Text 6"/>
          <p:cNvSpPr/>
          <p:nvPr/>
        </p:nvSpPr>
        <p:spPr>
          <a:xfrm>
            <a:off x="777240" y="1965960"/>
            <a:ext cx="5029200" cy="457200"/>
          </a:xfrm>
          <a:prstGeom prst="rect">
            <a:avLst/>
          </a:prstGeom>
          <a:noFill/>
          <a:ln/>
        </p:spPr>
        <p:txBody>
          <a:bodyPr wrap="square" rtlCol="0" anchor="ctr"/>
          <a:lstStyle/>
          <a:p>
            <a:pPr marL="0" indent="0">
              <a:buNone/>
            </a:pPr>
            <a:r>
              <a:rPr lang="en-US" sz="2000" b="1" dirty="0">
                <a:solidFill>
                  <a:srgbClr val="1B5E20"/>
                </a:solidFill>
                <a:latin typeface="Poppins" pitchFamily="34" charset="0"/>
                <a:ea typeface="Poppins" pitchFamily="34" charset="-122"/>
                <a:cs typeface="Poppins" pitchFamily="34" charset="-120"/>
              </a:rPr>
              <a:t>✅  ADVANTAGES</a:t>
            </a:r>
            <a:endParaRPr lang="en-US" sz="2000" dirty="0"/>
          </a:p>
        </p:txBody>
      </p:sp>
      <p:sp>
        <p:nvSpPr>
          <p:cNvPr id="9" name="Shape 7"/>
          <p:cNvSpPr/>
          <p:nvPr/>
        </p:nvSpPr>
        <p:spPr>
          <a:xfrm>
            <a:off x="777240" y="2606040"/>
            <a:ext cx="5029200" cy="502920"/>
          </a:xfrm>
          <a:prstGeom prst="roundRect">
            <a:avLst>
              <a:gd name="adj" fmla="val 14545"/>
            </a:avLst>
          </a:prstGeom>
          <a:solidFill>
            <a:srgbClr val="FFFFFF"/>
          </a:solidFill>
          <a:ln/>
        </p:spPr>
      </p:sp>
      <p:sp>
        <p:nvSpPr>
          <p:cNvPr id="10" name="Shape 8"/>
          <p:cNvSpPr/>
          <p:nvPr/>
        </p:nvSpPr>
        <p:spPr>
          <a:xfrm>
            <a:off x="777240" y="2606040"/>
            <a:ext cx="91440" cy="502920"/>
          </a:xfrm>
          <a:prstGeom prst="rect">
            <a:avLst/>
          </a:prstGeom>
          <a:solidFill>
            <a:srgbClr val="2E7D46"/>
          </a:solidFill>
          <a:ln/>
        </p:spPr>
      </p:sp>
      <p:sp>
        <p:nvSpPr>
          <p:cNvPr id="11" name="Text 9"/>
          <p:cNvSpPr/>
          <p:nvPr/>
        </p:nvSpPr>
        <p:spPr>
          <a:xfrm>
            <a:off x="1005840" y="260604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Reduces food waste</a:t>
            </a:r>
            <a:endParaRPr lang="en-US" sz="1600" dirty="0"/>
          </a:p>
        </p:txBody>
      </p:sp>
      <p:sp>
        <p:nvSpPr>
          <p:cNvPr id="12" name="Shape 10"/>
          <p:cNvSpPr/>
          <p:nvPr/>
        </p:nvSpPr>
        <p:spPr>
          <a:xfrm>
            <a:off x="777240" y="3200400"/>
            <a:ext cx="5029200" cy="502920"/>
          </a:xfrm>
          <a:prstGeom prst="roundRect">
            <a:avLst>
              <a:gd name="adj" fmla="val 14545"/>
            </a:avLst>
          </a:prstGeom>
          <a:solidFill>
            <a:srgbClr val="FFFFFF"/>
          </a:solidFill>
          <a:ln/>
        </p:spPr>
      </p:sp>
      <p:sp>
        <p:nvSpPr>
          <p:cNvPr id="13" name="Shape 11"/>
          <p:cNvSpPr/>
          <p:nvPr/>
        </p:nvSpPr>
        <p:spPr>
          <a:xfrm>
            <a:off x="777240" y="3200400"/>
            <a:ext cx="91440" cy="502920"/>
          </a:xfrm>
          <a:prstGeom prst="rect">
            <a:avLst/>
          </a:prstGeom>
          <a:solidFill>
            <a:srgbClr val="2E7D46"/>
          </a:solidFill>
          <a:ln/>
        </p:spPr>
      </p:sp>
      <p:sp>
        <p:nvSpPr>
          <p:cNvPr id="14" name="Text 12"/>
          <p:cNvSpPr/>
          <p:nvPr/>
        </p:nvSpPr>
        <p:spPr>
          <a:xfrm>
            <a:off x="1005840" y="320040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Saves money</a:t>
            </a:r>
            <a:endParaRPr lang="en-US" sz="1600" dirty="0"/>
          </a:p>
        </p:txBody>
      </p:sp>
      <p:sp>
        <p:nvSpPr>
          <p:cNvPr id="15" name="Shape 13"/>
          <p:cNvSpPr/>
          <p:nvPr/>
        </p:nvSpPr>
        <p:spPr>
          <a:xfrm>
            <a:off x="777240" y="3794760"/>
            <a:ext cx="5029200" cy="502920"/>
          </a:xfrm>
          <a:prstGeom prst="roundRect">
            <a:avLst>
              <a:gd name="adj" fmla="val 14545"/>
            </a:avLst>
          </a:prstGeom>
          <a:solidFill>
            <a:srgbClr val="FFFFFF"/>
          </a:solidFill>
          <a:ln/>
        </p:spPr>
      </p:sp>
      <p:sp>
        <p:nvSpPr>
          <p:cNvPr id="16" name="Shape 14"/>
          <p:cNvSpPr/>
          <p:nvPr/>
        </p:nvSpPr>
        <p:spPr>
          <a:xfrm>
            <a:off x="777240" y="3794760"/>
            <a:ext cx="91440" cy="502920"/>
          </a:xfrm>
          <a:prstGeom prst="rect">
            <a:avLst/>
          </a:prstGeom>
          <a:solidFill>
            <a:srgbClr val="2E7D46"/>
          </a:solidFill>
          <a:ln/>
        </p:spPr>
      </p:sp>
      <p:sp>
        <p:nvSpPr>
          <p:cNvPr id="17" name="Text 15"/>
          <p:cNvSpPr/>
          <p:nvPr/>
        </p:nvSpPr>
        <p:spPr>
          <a:xfrm>
            <a:off x="1005840" y="379476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Easy inventory management</a:t>
            </a:r>
            <a:endParaRPr lang="en-US" sz="1600" dirty="0"/>
          </a:p>
        </p:txBody>
      </p:sp>
      <p:sp>
        <p:nvSpPr>
          <p:cNvPr id="18" name="Shape 16"/>
          <p:cNvSpPr/>
          <p:nvPr/>
        </p:nvSpPr>
        <p:spPr>
          <a:xfrm>
            <a:off x="777240" y="4389120"/>
            <a:ext cx="5029200" cy="502920"/>
          </a:xfrm>
          <a:prstGeom prst="roundRect">
            <a:avLst>
              <a:gd name="adj" fmla="val 14545"/>
            </a:avLst>
          </a:prstGeom>
          <a:solidFill>
            <a:srgbClr val="FFFFFF"/>
          </a:solidFill>
          <a:ln/>
        </p:spPr>
      </p:sp>
      <p:sp>
        <p:nvSpPr>
          <p:cNvPr id="19" name="Shape 17"/>
          <p:cNvSpPr/>
          <p:nvPr/>
        </p:nvSpPr>
        <p:spPr>
          <a:xfrm>
            <a:off x="777240" y="4389120"/>
            <a:ext cx="91440" cy="502920"/>
          </a:xfrm>
          <a:prstGeom prst="rect">
            <a:avLst/>
          </a:prstGeom>
          <a:solidFill>
            <a:srgbClr val="2E7D46"/>
          </a:solidFill>
          <a:ln/>
        </p:spPr>
      </p:sp>
      <p:sp>
        <p:nvSpPr>
          <p:cNvPr id="20" name="Text 18"/>
          <p:cNvSpPr/>
          <p:nvPr/>
        </p:nvSpPr>
        <p:spPr>
          <a:xfrm>
            <a:off x="1005840" y="438912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AI-powered recommendations</a:t>
            </a:r>
            <a:endParaRPr lang="en-US" sz="1600" dirty="0"/>
          </a:p>
        </p:txBody>
      </p:sp>
      <p:sp>
        <p:nvSpPr>
          <p:cNvPr id="21" name="Shape 19"/>
          <p:cNvSpPr/>
          <p:nvPr/>
        </p:nvSpPr>
        <p:spPr>
          <a:xfrm>
            <a:off x="777240" y="4983480"/>
            <a:ext cx="5029200" cy="502920"/>
          </a:xfrm>
          <a:prstGeom prst="roundRect">
            <a:avLst>
              <a:gd name="adj" fmla="val 14545"/>
            </a:avLst>
          </a:prstGeom>
          <a:solidFill>
            <a:srgbClr val="FFFFFF"/>
          </a:solidFill>
          <a:ln/>
        </p:spPr>
      </p:sp>
      <p:sp>
        <p:nvSpPr>
          <p:cNvPr id="22" name="Shape 20"/>
          <p:cNvSpPr/>
          <p:nvPr/>
        </p:nvSpPr>
        <p:spPr>
          <a:xfrm>
            <a:off x="777240" y="4983480"/>
            <a:ext cx="91440" cy="502920"/>
          </a:xfrm>
          <a:prstGeom prst="rect">
            <a:avLst/>
          </a:prstGeom>
          <a:solidFill>
            <a:srgbClr val="2E7D46"/>
          </a:solidFill>
          <a:ln/>
        </p:spPr>
      </p:sp>
      <p:sp>
        <p:nvSpPr>
          <p:cNvPr id="23" name="Text 21"/>
          <p:cNvSpPr/>
          <p:nvPr/>
        </p:nvSpPr>
        <p:spPr>
          <a:xfrm>
            <a:off x="1005840" y="498348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User-friendly interface</a:t>
            </a:r>
            <a:endParaRPr lang="en-US" sz="1600" dirty="0"/>
          </a:p>
        </p:txBody>
      </p:sp>
      <p:sp>
        <p:nvSpPr>
          <p:cNvPr id="24" name="Shape 22"/>
          <p:cNvSpPr/>
          <p:nvPr/>
        </p:nvSpPr>
        <p:spPr>
          <a:xfrm>
            <a:off x="777240" y="5577840"/>
            <a:ext cx="5029200" cy="502920"/>
          </a:xfrm>
          <a:prstGeom prst="roundRect">
            <a:avLst>
              <a:gd name="adj" fmla="val 14545"/>
            </a:avLst>
          </a:prstGeom>
          <a:solidFill>
            <a:srgbClr val="FFFFFF"/>
          </a:solidFill>
          <a:ln/>
        </p:spPr>
      </p:sp>
      <p:sp>
        <p:nvSpPr>
          <p:cNvPr id="25" name="Shape 23"/>
          <p:cNvSpPr/>
          <p:nvPr/>
        </p:nvSpPr>
        <p:spPr>
          <a:xfrm>
            <a:off x="777240" y="5577840"/>
            <a:ext cx="91440" cy="502920"/>
          </a:xfrm>
          <a:prstGeom prst="rect">
            <a:avLst/>
          </a:prstGeom>
          <a:solidFill>
            <a:srgbClr val="2E7D46"/>
          </a:solidFill>
          <a:ln/>
        </p:spPr>
      </p:sp>
      <p:sp>
        <p:nvSpPr>
          <p:cNvPr id="26" name="Text 24"/>
          <p:cNvSpPr/>
          <p:nvPr/>
        </p:nvSpPr>
        <p:spPr>
          <a:xfrm>
            <a:off x="1005840" y="5577840"/>
            <a:ext cx="4754880" cy="502920"/>
          </a:xfrm>
          <a:prstGeom prst="rect">
            <a:avLst/>
          </a:prstGeom>
          <a:noFill/>
          <a:ln/>
        </p:spPr>
        <p:txBody>
          <a:bodyPr wrap="square" rtlCol="0" anchor="ctr"/>
          <a:lstStyle/>
          <a:p>
            <a:pPr marL="0" indent="0">
              <a:buNone/>
            </a:pPr>
            <a:r>
              <a:rPr lang="en-US" sz="1600" b="1" dirty="0">
                <a:solidFill>
                  <a:srgbClr val="1F2937"/>
                </a:solidFill>
                <a:latin typeface="Poppins" pitchFamily="34" charset="0"/>
                <a:ea typeface="Poppins" pitchFamily="34" charset="-122"/>
                <a:cs typeface="Poppins" pitchFamily="34" charset="-120"/>
              </a:rPr>
              <a:t>Better grocery planning</a:t>
            </a:r>
            <a:endParaRPr lang="en-US" sz="1600" dirty="0"/>
          </a:p>
        </p:txBody>
      </p:sp>
      <p:sp>
        <p:nvSpPr>
          <p:cNvPr id="27" name="Shape 25"/>
          <p:cNvSpPr/>
          <p:nvPr/>
        </p:nvSpPr>
        <p:spPr>
          <a:xfrm>
            <a:off x="6263640" y="1828800"/>
            <a:ext cx="5394960" cy="4572000"/>
          </a:xfrm>
          <a:prstGeom prst="roundRect">
            <a:avLst>
              <a:gd name="adj" fmla="val 3000"/>
            </a:avLst>
          </a:prstGeom>
          <a:solidFill>
            <a:srgbClr val="FFF3E0"/>
          </a:solidFill>
          <a:ln/>
        </p:spPr>
      </p:sp>
      <p:sp>
        <p:nvSpPr>
          <p:cNvPr id="28" name="Text 26"/>
          <p:cNvSpPr/>
          <p:nvPr/>
        </p:nvSpPr>
        <p:spPr>
          <a:xfrm>
            <a:off x="6492240" y="1965960"/>
            <a:ext cx="5029200" cy="457200"/>
          </a:xfrm>
          <a:prstGeom prst="rect">
            <a:avLst/>
          </a:prstGeom>
          <a:noFill/>
          <a:ln/>
        </p:spPr>
        <p:txBody>
          <a:bodyPr wrap="square" rtlCol="0" anchor="ctr"/>
          <a:lstStyle/>
          <a:p>
            <a:pPr marL="0" indent="0">
              <a:buNone/>
            </a:pPr>
            <a:r>
              <a:rPr lang="en-US" sz="2000" b="1" dirty="0">
                <a:solidFill>
                  <a:srgbClr val="F57C1F"/>
                </a:solidFill>
                <a:latin typeface="Poppins" pitchFamily="34" charset="0"/>
                <a:ea typeface="Poppins" pitchFamily="34" charset="-122"/>
                <a:cs typeface="Poppins" pitchFamily="34" charset="-120"/>
              </a:rPr>
              <a:t>🚀  FUTURE ENHANCEMENTS</a:t>
            </a:r>
            <a:endParaRPr lang="en-US" sz="2000" dirty="0"/>
          </a:p>
        </p:txBody>
      </p:sp>
      <p:sp>
        <p:nvSpPr>
          <p:cNvPr id="29" name="Shape 27"/>
          <p:cNvSpPr/>
          <p:nvPr/>
        </p:nvSpPr>
        <p:spPr>
          <a:xfrm>
            <a:off x="6492240" y="2606040"/>
            <a:ext cx="1600200" cy="822960"/>
          </a:xfrm>
          <a:prstGeom prst="roundRect">
            <a:avLst>
              <a:gd name="adj" fmla="val 8889"/>
            </a:avLst>
          </a:prstGeom>
          <a:solidFill>
            <a:srgbClr val="FFFFFF"/>
          </a:solidFill>
          <a:ln w="19050">
            <a:solidFill>
              <a:srgbClr val="F57C1F"/>
            </a:solidFill>
            <a:prstDash val="solid"/>
          </a:ln>
        </p:spPr>
      </p:sp>
      <p:sp>
        <p:nvSpPr>
          <p:cNvPr id="30" name="Text 28"/>
          <p:cNvSpPr/>
          <p:nvPr/>
        </p:nvSpPr>
        <p:spPr>
          <a:xfrm>
            <a:off x="6492240" y="265176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6537960" y="301752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Barcode Scanner</a:t>
            </a:r>
            <a:endParaRPr lang="en-US" sz="1100" dirty="0"/>
          </a:p>
        </p:txBody>
      </p:sp>
      <p:sp>
        <p:nvSpPr>
          <p:cNvPr id="32" name="Shape 30"/>
          <p:cNvSpPr/>
          <p:nvPr/>
        </p:nvSpPr>
        <p:spPr>
          <a:xfrm>
            <a:off x="8183880" y="2606040"/>
            <a:ext cx="1600200" cy="822960"/>
          </a:xfrm>
          <a:prstGeom prst="roundRect">
            <a:avLst>
              <a:gd name="adj" fmla="val 8889"/>
            </a:avLst>
          </a:prstGeom>
          <a:solidFill>
            <a:srgbClr val="FFFFFF"/>
          </a:solidFill>
          <a:ln w="19050">
            <a:solidFill>
              <a:srgbClr val="F57C1F"/>
            </a:solidFill>
            <a:prstDash val="solid"/>
          </a:ln>
        </p:spPr>
      </p:sp>
      <p:sp>
        <p:nvSpPr>
          <p:cNvPr id="33" name="Text 31"/>
          <p:cNvSpPr/>
          <p:nvPr/>
        </p:nvSpPr>
        <p:spPr>
          <a:xfrm>
            <a:off x="8183880" y="265176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4" name="Text 32"/>
          <p:cNvSpPr/>
          <p:nvPr/>
        </p:nvSpPr>
        <p:spPr>
          <a:xfrm>
            <a:off x="8229600" y="301752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OCR Bill Scanner</a:t>
            </a:r>
            <a:endParaRPr lang="en-US" sz="1100" dirty="0"/>
          </a:p>
        </p:txBody>
      </p:sp>
      <p:sp>
        <p:nvSpPr>
          <p:cNvPr id="35" name="Shape 33"/>
          <p:cNvSpPr/>
          <p:nvPr/>
        </p:nvSpPr>
        <p:spPr>
          <a:xfrm>
            <a:off x="9875520" y="2606040"/>
            <a:ext cx="1600200" cy="822960"/>
          </a:xfrm>
          <a:prstGeom prst="roundRect">
            <a:avLst>
              <a:gd name="adj" fmla="val 8889"/>
            </a:avLst>
          </a:prstGeom>
          <a:solidFill>
            <a:srgbClr val="FFFFFF"/>
          </a:solidFill>
          <a:ln w="19050">
            <a:solidFill>
              <a:srgbClr val="F57C1F"/>
            </a:solidFill>
            <a:prstDash val="solid"/>
          </a:ln>
        </p:spPr>
      </p:sp>
      <p:sp>
        <p:nvSpPr>
          <p:cNvPr id="36" name="Text 34"/>
          <p:cNvSpPr/>
          <p:nvPr/>
        </p:nvSpPr>
        <p:spPr>
          <a:xfrm>
            <a:off x="9875520" y="265176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7" name="Text 35"/>
          <p:cNvSpPr/>
          <p:nvPr/>
        </p:nvSpPr>
        <p:spPr>
          <a:xfrm>
            <a:off x="9921240" y="301752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Image Recognition</a:t>
            </a:r>
            <a:endParaRPr lang="en-US" sz="1100" dirty="0"/>
          </a:p>
        </p:txBody>
      </p:sp>
      <p:sp>
        <p:nvSpPr>
          <p:cNvPr id="38" name="Shape 36"/>
          <p:cNvSpPr/>
          <p:nvPr/>
        </p:nvSpPr>
        <p:spPr>
          <a:xfrm>
            <a:off x="6492240" y="3566160"/>
            <a:ext cx="1600200" cy="822960"/>
          </a:xfrm>
          <a:prstGeom prst="roundRect">
            <a:avLst>
              <a:gd name="adj" fmla="val 8889"/>
            </a:avLst>
          </a:prstGeom>
          <a:solidFill>
            <a:srgbClr val="FFFFFF"/>
          </a:solidFill>
          <a:ln w="19050">
            <a:solidFill>
              <a:srgbClr val="F57C1F"/>
            </a:solidFill>
            <a:prstDash val="solid"/>
          </a:ln>
        </p:spPr>
      </p:sp>
      <p:sp>
        <p:nvSpPr>
          <p:cNvPr id="39" name="Text 37"/>
          <p:cNvSpPr/>
          <p:nvPr/>
        </p:nvSpPr>
        <p:spPr>
          <a:xfrm>
            <a:off x="6492240" y="361188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0" name="Text 38"/>
          <p:cNvSpPr/>
          <p:nvPr/>
        </p:nvSpPr>
        <p:spPr>
          <a:xfrm>
            <a:off x="6537960" y="397764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Voice Assistant</a:t>
            </a:r>
            <a:endParaRPr lang="en-US" sz="1100" dirty="0"/>
          </a:p>
        </p:txBody>
      </p:sp>
      <p:sp>
        <p:nvSpPr>
          <p:cNvPr id="41" name="Shape 39"/>
          <p:cNvSpPr/>
          <p:nvPr/>
        </p:nvSpPr>
        <p:spPr>
          <a:xfrm>
            <a:off x="8183880" y="3566160"/>
            <a:ext cx="1600200" cy="822960"/>
          </a:xfrm>
          <a:prstGeom prst="roundRect">
            <a:avLst>
              <a:gd name="adj" fmla="val 8889"/>
            </a:avLst>
          </a:prstGeom>
          <a:solidFill>
            <a:srgbClr val="FFFFFF"/>
          </a:solidFill>
          <a:ln w="19050">
            <a:solidFill>
              <a:srgbClr val="F57C1F"/>
            </a:solidFill>
            <a:prstDash val="solid"/>
          </a:ln>
        </p:spPr>
      </p:sp>
      <p:sp>
        <p:nvSpPr>
          <p:cNvPr id="42" name="Text 40"/>
          <p:cNvSpPr/>
          <p:nvPr/>
        </p:nvSpPr>
        <p:spPr>
          <a:xfrm>
            <a:off x="8183880" y="361188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3" name="Text 41"/>
          <p:cNvSpPr/>
          <p:nvPr/>
        </p:nvSpPr>
        <p:spPr>
          <a:xfrm>
            <a:off x="8229600" y="397764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Smart Fridge</a:t>
            </a:r>
            <a:endParaRPr lang="en-US" sz="1100" dirty="0"/>
          </a:p>
        </p:txBody>
      </p:sp>
      <p:sp>
        <p:nvSpPr>
          <p:cNvPr id="44" name="Shape 42"/>
          <p:cNvSpPr/>
          <p:nvPr/>
        </p:nvSpPr>
        <p:spPr>
          <a:xfrm>
            <a:off x="9875520" y="3566160"/>
            <a:ext cx="1600200" cy="822960"/>
          </a:xfrm>
          <a:prstGeom prst="roundRect">
            <a:avLst>
              <a:gd name="adj" fmla="val 8889"/>
            </a:avLst>
          </a:prstGeom>
          <a:solidFill>
            <a:srgbClr val="FFFFFF"/>
          </a:solidFill>
          <a:ln w="19050">
            <a:solidFill>
              <a:srgbClr val="F57C1F"/>
            </a:solidFill>
            <a:prstDash val="solid"/>
          </a:ln>
        </p:spPr>
      </p:sp>
      <p:sp>
        <p:nvSpPr>
          <p:cNvPr id="45" name="Text 43"/>
          <p:cNvSpPr/>
          <p:nvPr/>
        </p:nvSpPr>
        <p:spPr>
          <a:xfrm>
            <a:off x="9875520" y="361188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6" name="Text 44"/>
          <p:cNvSpPr/>
          <p:nvPr/>
        </p:nvSpPr>
        <p:spPr>
          <a:xfrm>
            <a:off x="9921240" y="397764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Nutrition Analysis</a:t>
            </a:r>
            <a:endParaRPr lang="en-US" sz="1100" dirty="0"/>
          </a:p>
        </p:txBody>
      </p:sp>
      <p:sp>
        <p:nvSpPr>
          <p:cNvPr id="47" name="Shape 45"/>
          <p:cNvSpPr/>
          <p:nvPr/>
        </p:nvSpPr>
        <p:spPr>
          <a:xfrm>
            <a:off x="6492240" y="4526280"/>
            <a:ext cx="1600200" cy="822960"/>
          </a:xfrm>
          <a:prstGeom prst="roundRect">
            <a:avLst>
              <a:gd name="adj" fmla="val 8889"/>
            </a:avLst>
          </a:prstGeom>
          <a:solidFill>
            <a:srgbClr val="FFFFFF"/>
          </a:solidFill>
          <a:ln w="19050">
            <a:solidFill>
              <a:srgbClr val="F57C1F"/>
            </a:solidFill>
            <a:prstDash val="solid"/>
          </a:ln>
        </p:spPr>
      </p:sp>
      <p:sp>
        <p:nvSpPr>
          <p:cNvPr id="48" name="Text 46"/>
          <p:cNvSpPr/>
          <p:nvPr/>
        </p:nvSpPr>
        <p:spPr>
          <a:xfrm>
            <a:off x="6492240" y="4572000"/>
            <a:ext cx="160020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9" name="Text 47"/>
          <p:cNvSpPr/>
          <p:nvPr/>
        </p:nvSpPr>
        <p:spPr>
          <a:xfrm>
            <a:off x="6537960" y="4937760"/>
            <a:ext cx="1508760" cy="365760"/>
          </a:xfrm>
          <a:prstGeom prst="rect">
            <a:avLst/>
          </a:prstGeom>
          <a:noFill/>
          <a:ln/>
        </p:spPr>
        <p:txBody>
          <a:bodyPr wrap="square" rtlCol="0" anchor="ctr"/>
          <a:lstStyle/>
          <a:p>
            <a:pPr marL="0" indent="0" algn="ctr">
              <a:buNone/>
            </a:pPr>
            <a:r>
              <a:rPr lang="en-US" sz="1100" b="1" dirty="0">
                <a:solidFill>
                  <a:srgbClr val="1F2937"/>
                </a:solidFill>
                <a:latin typeface="Poppins" pitchFamily="34" charset="0"/>
                <a:ea typeface="Poppins" pitchFamily="34" charset="-122"/>
                <a:cs typeface="Poppins" pitchFamily="34" charset="-120"/>
              </a:rPr>
              <a:t>Mobile App</a:t>
            </a:r>
            <a:endParaRPr lang="en-US" sz="1100" dirty="0"/>
          </a:p>
        </p:txBody>
      </p:sp>
      <p:sp>
        <p:nvSpPr>
          <p:cNvPr id="50" name="Text 48"/>
          <p:cNvSpPr/>
          <p:nvPr/>
        </p:nvSpPr>
        <p:spPr>
          <a:xfrm>
            <a:off x="548640" y="6492240"/>
            <a:ext cx="7315200" cy="274320"/>
          </a:xfrm>
          <a:prstGeom prst="rect">
            <a:avLst/>
          </a:prstGeom>
          <a:noFill/>
          <a:ln/>
        </p:spPr>
        <p:txBody>
          <a:bodyPr wrap="square" rtlCol="0" anchor="ctr"/>
          <a:lstStyle/>
          <a:p>
            <a:pPr marL="0" indent="0">
              <a:buNone/>
            </a:pPr>
            <a:r>
              <a:rPr lang="en-US" sz="1200" dirty="0">
                <a:solidFill>
                  <a:srgbClr val="6B7280"/>
                </a:solidFill>
                <a:latin typeface="Poppins" pitchFamily="34" charset="0"/>
                <a:ea typeface="Poppins" pitchFamily="34" charset="-122"/>
                <a:cs typeface="Poppins" pitchFamily="34" charset="-120"/>
              </a:rPr>
              <a:t>AI Smart Pantry &amp; Food Waste Manager</a:t>
            </a:r>
            <a:endParaRPr lang="en-US" sz="1200" dirty="0"/>
          </a:p>
        </p:txBody>
      </p:sp>
      <p:sp>
        <p:nvSpPr>
          <p:cNvPr id="51" name="Text 49"/>
          <p:cNvSpPr/>
          <p:nvPr/>
        </p:nvSpPr>
        <p:spPr>
          <a:xfrm>
            <a:off x="11155680" y="6492240"/>
            <a:ext cx="548640" cy="274320"/>
          </a:xfrm>
          <a:prstGeom prst="rect">
            <a:avLst/>
          </a:prstGeom>
          <a:noFill/>
          <a:ln/>
        </p:spPr>
        <p:txBody>
          <a:bodyPr wrap="square" rtlCol="0" anchor="ctr"/>
          <a:lstStyle/>
          <a:p>
            <a:pPr marL="0" indent="0" algn="r">
              <a:buNone/>
            </a:pPr>
            <a:r>
              <a:rPr lang="en-US" sz="1200" b="1" dirty="0">
                <a:solidFill>
                  <a:srgbClr val="2E7D46"/>
                </a:solidFill>
                <a:latin typeface="Poppins" pitchFamily="34" charset="0"/>
                <a:ea typeface="Poppins" pitchFamily="34" charset="-122"/>
                <a:cs typeface="Poppins" pitchFamily="34" charset="-120"/>
              </a:rPr>
              <a:t>7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E7D46"/>
          </a:solidFill>
          <a:ln/>
        </p:spPr>
      </p:sp>
      <p:sp>
        <p:nvSpPr>
          <p:cNvPr id="3" name="Shape 1"/>
          <p:cNvSpPr/>
          <p:nvPr/>
        </p:nvSpPr>
        <p:spPr>
          <a:xfrm>
            <a:off x="0" y="73152"/>
            <a:ext cx="12188952" cy="36576"/>
          </a:xfrm>
          <a:prstGeom prst="rect">
            <a:avLst/>
          </a:prstGeom>
          <a:solidFill>
            <a:srgbClr val="F57C1F"/>
          </a:solidFill>
          <a:ln/>
        </p:spPr>
      </p:sp>
      <p:sp>
        <p:nvSpPr>
          <p:cNvPr id="4" name="Text 2"/>
          <p:cNvSpPr/>
          <p:nvPr/>
        </p:nvSpPr>
        <p:spPr>
          <a:xfrm>
            <a:off x="548640" y="457200"/>
            <a:ext cx="10972800" cy="365760"/>
          </a:xfrm>
          <a:prstGeom prst="rect">
            <a:avLst/>
          </a:prstGeom>
          <a:noFill/>
          <a:ln/>
        </p:spPr>
        <p:txBody>
          <a:bodyPr wrap="square" rtlCol="0" anchor="ctr"/>
          <a:lstStyle/>
          <a:p>
            <a:pPr marL="0" indent="0">
              <a:buNone/>
            </a:pPr>
            <a:r>
              <a:rPr lang="en-US" sz="1600" b="1" kern="0" spc="600" dirty="0">
                <a:solidFill>
                  <a:srgbClr val="F57C1F"/>
                </a:solidFill>
                <a:latin typeface="Poppins" pitchFamily="34" charset="0"/>
                <a:ea typeface="Poppins" pitchFamily="34" charset="-122"/>
                <a:cs typeface="Poppins" pitchFamily="34" charset="-120"/>
              </a:rPr>
              <a:t>CONCLUSION</a:t>
            </a:r>
            <a:endParaRPr lang="en-US" sz="1600" dirty="0"/>
          </a:p>
        </p:txBody>
      </p:sp>
      <p:sp>
        <p:nvSpPr>
          <p:cNvPr id="5" name="Text 3"/>
          <p:cNvSpPr/>
          <p:nvPr/>
        </p:nvSpPr>
        <p:spPr>
          <a:xfrm>
            <a:off x="548640" y="868680"/>
            <a:ext cx="10972800" cy="822960"/>
          </a:xfrm>
          <a:prstGeom prst="rect">
            <a:avLst/>
          </a:prstGeom>
          <a:noFill/>
          <a:ln/>
        </p:spPr>
        <p:txBody>
          <a:bodyPr wrap="square" rtlCol="0" anchor="ctr"/>
          <a:lstStyle/>
          <a:p>
            <a:pPr marL="0" indent="0">
              <a:buNone/>
            </a:pPr>
            <a:r>
              <a:rPr lang="en-US" sz="4000" b="1" dirty="0">
                <a:solidFill>
                  <a:srgbClr val="1F2937"/>
                </a:solidFill>
                <a:latin typeface="Poppins" pitchFamily="34" charset="0"/>
                <a:ea typeface="Poppins" pitchFamily="34" charset="-122"/>
                <a:cs typeface="Poppins" pitchFamily="34" charset="-120"/>
              </a:rPr>
              <a:t>Smart Pantry. Smarter Planet.</a:t>
            </a:r>
            <a:endParaRPr lang="en-US" sz="4000" dirty="0"/>
          </a:p>
        </p:txBody>
      </p:sp>
      <p:sp>
        <p:nvSpPr>
          <p:cNvPr id="6" name="Shape 4"/>
          <p:cNvSpPr/>
          <p:nvPr/>
        </p:nvSpPr>
        <p:spPr>
          <a:xfrm>
            <a:off x="548640" y="1691640"/>
            <a:ext cx="1280160" cy="91440"/>
          </a:xfrm>
          <a:prstGeom prst="rect">
            <a:avLst/>
          </a:prstGeom>
          <a:solidFill>
            <a:srgbClr val="2E7D46"/>
          </a:solidFill>
          <a:ln/>
        </p:spPr>
      </p:sp>
      <p:sp>
        <p:nvSpPr>
          <p:cNvPr id="7" name="Shape 5"/>
          <p:cNvSpPr/>
          <p:nvPr/>
        </p:nvSpPr>
        <p:spPr>
          <a:xfrm>
            <a:off x="548640" y="2011680"/>
            <a:ext cx="7315200" cy="3200400"/>
          </a:xfrm>
          <a:prstGeom prst="roundRect">
            <a:avLst>
              <a:gd name="adj" fmla="val 4286"/>
            </a:avLst>
          </a:prstGeom>
          <a:solidFill>
            <a:srgbClr val="F8FAFC"/>
          </a:solidFill>
          <a:ln w="19050">
            <a:solidFill>
              <a:srgbClr val="E8F5E9"/>
            </a:solidFill>
            <a:prstDash val="solid"/>
          </a:ln>
        </p:spPr>
      </p:sp>
      <p:sp>
        <p:nvSpPr>
          <p:cNvPr id="8" name="Text 6"/>
          <p:cNvSpPr/>
          <p:nvPr/>
        </p:nvSpPr>
        <p:spPr>
          <a:xfrm>
            <a:off x="822960" y="2194560"/>
            <a:ext cx="6766560" cy="2834640"/>
          </a:xfrm>
          <a:prstGeom prst="rect">
            <a:avLst/>
          </a:prstGeom>
          <a:noFill/>
          <a:ln/>
        </p:spPr>
        <p:txBody>
          <a:bodyPr wrap="square" rtlCol="0" anchor="t"/>
          <a:lstStyle/>
          <a:p>
            <a:pPr marL="0" indent="0">
              <a:spcAft>
                <a:spcPts val="800"/>
              </a:spcAft>
              <a:buNone/>
            </a:pPr>
            <a:r>
              <a:rPr lang="en-US" sz="1800" b="1" dirty="0">
                <a:solidFill>
                  <a:srgbClr val="1F2937"/>
                </a:solidFill>
                <a:latin typeface="Poppins" pitchFamily="34" charset="0"/>
                <a:ea typeface="Poppins" pitchFamily="34" charset="-122"/>
                <a:cs typeface="Poppins" pitchFamily="34" charset="-120"/>
              </a:rPr>
              <a:t>The AI Smart Pantry &amp; Food Waste Manager is an intelligent full-stack web application that helps users efficiently manage groceries using Artificial Intelligence. By tracking pantry items, monitoring expiry dates, generating recipe suggestions, and providing smart shopping recommendations, the system reduces food waste, saves money, and simplifies everyday food management.</a:t>
            </a:r>
            <a:endParaRPr lang="en-US" sz="1800" dirty="0"/>
          </a:p>
        </p:txBody>
      </p:sp>
      <p:sp>
        <p:nvSpPr>
          <p:cNvPr id="9" name="Shape 7"/>
          <p:cNvSpPr/>
          <p:nvPr/>
        </p:nvSpPr>
        <p:spPr>
          <a:xfrm>
            <a:off x="8138160" y="2011680"/>
            <a:ext cx="3520440" cy="3200400"/>
          </a:xfrm>
          <a:prstGeom prst="roundRect">
            <a:avLst>
              <a:gd name="adj" fmla="val 4286"/>
            </a:avLst>
          </a:prstGeom>
          <a:solidFill>
            <a:srgbClr val="2E7D46"/>
          </a:solidFill>
          <a:ln/>
        </p:spPr>
      </p:sp>
      <p:sp>
        <p:nvSpPr>
          <p:cNvPr id="10" name="Text 8"/>
          <p:cNvSpPr/>
          <p:nvPr/>
        </p:nvSpPr>
        <p:spPr>
          <a:xfrm>
            <a:off x="8138160" y="2377440"/>
            <a:ext cx="3520440" cy="640080"/>
          </a:xfrm>
          <a:prstGeom prst="rect">
            <a:avLst/>
          </a:prstGeom>
          <a:noFill/>
          <a:ln/>
        </p:spPr>
        <p:txBody>
          <a:bodyPr wrap="square" rtlCol="0" anchor="ctr"/>
          <a:lstStyle/>
          <a:p>
            <a:pPr marL="0" indent="0" algn="ctr">
              <a:buNone/>
            </a:pPr>
            <a:r>
              <a:rPr lang="en-US" sz="2800" b="1" dirty="0">
                <a:solidFill>
                  <a:srgbClr val="FFFFFF"/>
                </a:solidFill>
                <a:latin typeface="Poppins" pitchFamily="34" charset="0"/>
                <a:ea typeface="Poppins" pitchFamily="34" charset="-122"/>
                <a:cs typeface="Poppins" pitchFamily="34" charset="-120"/>
              </a:rPr>
              <a:t>THANK YOU</a:t>
            </a:r>
            <a:endParaRPr lang="en-US" sz="2800" dirty="0"/>
          </a:p>
        </p:txBody>
      </p:sp>
      <p:sp>
        <p:nvSpPr>
          <p:cNvPr id="11" name="Shape 9"/>
          <p:cNvSpPr/>
          <p:nvPr/>
        </p:nvSpPr>
        <p:spPr>
          <a:xfrm>
            <a:off x="9646920" y="3063240"/>
            <a:ext cx="502920" cy="73152"/>
          </a:xfrm>
          <a:prstGeom prst="rect">
            <a:avLst/>
          </a:prstGeom>
          <a:solidFill>
            <a:srgbClr val="F57C1F"/>
          </a:solidFill>
          <a:ln/>
        </p:spPr>
      </p:sp>
      <p:sp>
        <p:nvSpPr>
          <p:cNvPr id="12" name="Text 10"/>
          <p:cNvSpPr/>
          <p:nvPr/>
        </p:nvSpPr>
        <p:spPr>
          <a:xfrm>
            <a:off x="8138160" y="3246120"/>
            <a:ext cx="3520440" cy="457200"/>
          </a:xfrm>
          <a:prstGeom prst="rect">
            <a:avLst/>
          </a:prstGeom>
          <a:noFill/>
          <a:ln/>
        </p:spPr>
        <p:txBody>
          <a:bodyPr wrap="square" rtlCol="0" anchor="ctr"/>
          <a:lstStyle/>
          <a:p>
            <a:pPr marL="0" indent="0" algn="ctr">
              <a:buNone/>
            </a:pPr>
            <a:r>
              <a:rPr lang="en-US" sz="2000" b="1" dirty="0">
                <a:solidFill>
                  <a:srgbClr val="FFF3E0"/>
                </a:solidFill>
                <a:latin typeface="Poppins" pitchFamily="34" charset="0"/>
                <a:ea typeface="Poppins" pitchFamily="34" charset="-122"/>
                <a:cs typeface="Poppins" pitchFamily="34" charset="-120"/>
              </a:rPr>
              <a:t>Questions</a:t>
            </a:r>
            <a:endParaRPr lang="en-US" sz="2000" dirty="0"/>
          </a:p>
        </p:txBody>
      </p:sp>
      <p:sp>
        <p:nvSpPr>
          <p:cNvPr id="13" name="Text 11"/>
          <p:cNvSpPr/>
          <p:nvPr/>
        </p:nvSpPr>
        <p:spPr>
          <a:xfrm>
            <a:off x="8138160" y="3657600"/>
            <a:ext cx="3520440" cy="457200"/>
          </a:xfrm>
          <a:prstGeom prst="rect">
            <a:avLst/>
          </a:prstGeom>
          <a:noFill/>
          <a:ln/>
        </p:spPr>
        <p:txBody>
          <a:bodyPr wrap="square" rtlCol="0" anchor="ctr"/>
          <a:lstStyle/>
          <a:p>
            <a:pPr marL="0" indent="0" algn="ctr">
              <a:buNone/>
            </a:pPr>
            <a:r>
              <a:rPr lang="en-US" sz="2400" b="1" i="1" dirty="0">
                <a:solidFill>
                  <a:srgbClr val="FFFFFF"/>
                </a:solidFill>
                <a:latin typeface="Poppins" pitchFamily="34" charset="0"/>
                <a:ea typeface="Poppins" pitchFamily="34" charset="-122"/>
                <a:cs typeface="Poppins" pitchFamily="34" charset="-120"/>
              </a:rPr>
              <a:t>&amp;</a:t>
            </a:r>
            <a:endParaRPr lang="en-US" sz="2400" dirty="0"/>
          </a:p>
        </p:txBody>
      </p:sp>
      <p:sp>
        <p:nvSpPr>
          <p:cNvPr id="14" name="Text 12"/>
          <p:cNvSpPr/>
          <p:nvPr/>
        </p:nvSpPr>
        <p:spPr>
          <a:xfrm>
            <a:off x="8138160" y="4114800"/>
            <a:ext cx="3520440" cy="457200"/>
          </a:xfrm>
          <a:prstGeom prst="rect">
            <a:avLst/>
          </a:prstGeom>
          <a:noFill/>
          <a:ln/>
        </p:spPr>
        <p:txBody>
          <a:bodyPr wrap="square" rtlCol="0" anchor="ctr"/>
          <a:lstStyle/>
          <a:p>
            <a:pPr marL="0" indent="0" algn="ctr">
              <a:buNone/>
            </a:pPr>
            <a:r>
              <a:rPr lang="en-US" sz="2000" b="1" dirty="0">
                <a:solidFill>
                  <a:srgbClr val="FFF3E0"/>
                </a:solidFill>
                <a:latin typeface="Poppins" pitchFamily="34" charset="0"/>
                <a:ea typeface="Poppins" pitchFamily="34" charset="-122"/>
                <a:cs typeface="Poppins" pitchFamily="34" charset="-120"/>
              </a:rPr>
              <a:t>Answers</a:t>
            </a:r>
            <a:endParaRPr lang="en-US" sz="2000" dirty="0"/>
          </a:p>
        </p:txBody>
      </p:sp>
      <p:sp>
        <p:nvSpPr>
          <p:cNvPr id="15" name="Shape 13"/>
          <p:cNvSpPr/>
          <p:nvPr/>
        </p:nvSpPr>
        <p:spPr>
          <a:xfrm>
            <a:off x="548640" y="5394960"/>
            <a:ext cx="11109960" cy="960120"/>
          </a:xfrm>
          <a:prstGeom prst="roundRect">
            <a:avLst>
              <a:gd name="adj" fmla="val 9524"/>
            </a:avLst>
          </a:prstGeom>
          <a:solidFill>
            <a:srgbClr val="E8F5E9"/>
          </a:solidFill>
          <a:ln/>
        </p:spPr>
      </p:sp>
      <p:sp>
        <p:nvSpPr>
          <p:cNvPr id="16" name="Text 14"/>
          <p:cNvSpPr/>
          <p:nvPr/>
        </p:nvSpPr>
        <p:spPr>
          <a:xfrm>
            <a:off x="777240" y="5440680"/>
            <a:ext cx="3657600" cy="274320"/>
          </a:xfrm>
          <a:prstGeom prst="rect">
            <a:avLst/>
          </a:prstGeom>
          <a:noFill/>
          <a:ln/>
        </p:spPr>
        <p:txBody>
          <a:bodyPr wrap="square" rtlCol="0" anchor="ctr"/>
          <a:lstStyle/>
          <a:p>
            <a:pPr marL="0" indent="0">
              <a:buNone/>
            </a:pPr>
            <a:r>
              <a:rPr lang="en-US" sz="1200" b="1" kern="0" spc="400" dirty="0">
                <a:solidFill>
                  <a:srgbClr val="F57C1F"/>
                </a:solidFill>
                <a:latin typeface="Poppins" pitchFamily="34" charset="0"/>
                <a:ea typeface="Poppins" pitchFamily="34" charset="-122"/>
                <a:cs typeface="Poppins" pitchFamily="34" charset="-120"/>
              </a:rPr>
              <a:t>PROJECT TEAM</a:t>
            </a:r>
            <a:endParaRPr lang="en-US" sz="1200" dirty="0"/>
          </a:p>
        </p:txBody>
      </p:sp>
      <p:sp>
        <p:nvSpPr>
          <p:cNvPr id="17" name="Text 15"/>
          <p:cNvSpPr/>
          <p:nvPr/>
        </p:nvSpPr>
        <p:spPr>
          <a:xfrm>
            <a:off x="777240" y="5715000"/>
            <a:ext cx="7315200" cy="365760"/>
          </a:xfrm>
          <a:prstGeom prst="rect">
            <a:avLst/>
          </a:prstGeom>
          <a:noFill/>
          <a:ln/>
        </p:spPr>
        <p:txBody>
          <a:bodyPr wrap="square" rtlCol="0" anchor="ctr"/>
          <a:lstStyle/>
          <a:p>
            <a:pPr marL="0" indent="0">
              <a:buNone/>
            </a:pPr>
            <a:r>
              <a:rPr lang="en-US" sz="2000" b="1" dirty="0">
                <a:solidFill>
                  <a:srgbClr val="1B5E20"/>
                </a:solidFill>
                <a:latin typeface="Poppins" pitchFamily="34" charset="0"/>
                <a:ea typeface="Poppins" pitchFamily="34" charset="-122"/>
                <a:cs typeface="Poppins" pitchFamily="34" charset="-120"/>
              </a:rPr>
              <a:t>Abi. T    •    Adithya. C    •    Roshni. A</a:t>
            </a:r>
            <a:endParaRPr lang="en-US" sz="2000" dirty="0"/>
          </a:p>
        </p:txBody>
      </p:sp>
      <p:sp>
        <p:nvSpPr>
          <p:cNvPr id="18" name="Text 16"/>
          <p:cNvSpPr/>
          <p:nvPr/>
        </p:nvSpPr>
        <p:spPr>
          <a:xfrm>
            <a:off x="777240" y="6035040"/>
            <a:ext cx="8229600" cy="274320"/>
          </a:xfrm>
          <a:prstGeom prst="rect">
            <a:avLst/>
          </a:prstGeom>
          <a:noFill/>
          <a:ln/>
        </p:spPr>
        <p:txBody>
          <a:bodyPr wrap="square" rtlCol="0" anchor="ctr"/>
          <a:lstStyle/>
          <a:p>
            <a:pPr marL="0" indent="0">
              <a:buNone/>
            </a:pPr>
            <a:r>
              <a:rPr lang="en-US" sz="1200" b="1" dirty="0">
                <a:solidFill>
                  <a:srgbClr val="6B7280"/>
                </a:solidFill>
                <a:latin typeface="Poppins" pitchFamily="34" charset="0"/>
                <a:ea typeface="Poppins" pitchFamily="34" charset="-122"/>
                <a:cs typeface="Poppins" pitchFamily="34" charset="-120"/>
              </a:rPr>
              <a:t>Dept. of Computer Science and Business Systems  •  2026–2027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529</Words>
  <Application>Microsoft Office PowerPoint</Application>
  <PresentationFormat>Widescreen</PresentationFormat>
  <Paragraphs>197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Smart Pantry &amp; Food Waste Manager</dc:title>
  <dc:subject>PptxGenJS Presentation</dc:subject>
  <dc:creator>PptxGenJS</dc:creator>
  <cp:lastModifiedBy>Roshni A</cp:lastModifiedBy>
  <cp:revision>1</cp:revision>
  <dcterms:created xsi:type="dcterms:W3CDTF">2026-07-27T12:30:21Z</dcterms:created>
  <dcterms:modified xsi:type="dcterms:W3CDTF">2026-07-27T12:32:56Z</dcterms:modified>
</cp:coreProperties>
</file>